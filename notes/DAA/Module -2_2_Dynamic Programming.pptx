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7" r:id="rId3"/>
    <p:sldId id="258" r:id="rId4"/>
    <p:sldId id="259" r:id="rId5"/>
    <p:sldId id="272" r:id="rId6"/>
    <p:sldId id="260" r:id="rId7"/>
    <p:sldId id="261" r:id="rId8"/>
    <p:sldId id="262" r:id="rId9"/>
    <p:sldId id="263" r:id="rId10"/>
    <p:sldId id="264" r:id="rId11"/>
    <p:sldId id="265" r:id="rId12"/>
    <p:sldId id="266" r:id="rId13"/>
    <p:sldId id="269" r:id="rId14"/>
    <p:sldId id="273" r:id="rId15"/>
    <p:sldId id="27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5" d="100"/>
          <a:sy n="45" d="100"/>
        </p:scale>
        <p:origin x="1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56C1E-1EBA-4236-8B7C-CEC6A815A6E7}"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DC117B-D26B-480F-94D5-A4D51DB4D1EC}" type="slidenum">
              <a:rPr lang="en-US" smtClean="0"/>
              <a:t>‹#›</a:t>
            </a:fld>
            <a:endParaRPr lang="en-US"/>
          </a:p>
        </p:txBody>
      </p:sp>
    </p:spTree>
    <p:extLst>
      <p:ext uri="{BB962C8B-B14F-4D97-AF65-F5344CB8AC3E}">
        <p14:creationId xmlns:p14="http://schemas.microsoft.com/office/powerpoint/2010/main" val="392399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0239A-1F46-36C1-D84B-CD171BF13E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6C46AA-BD20-06E2-4F4F-D5C021136F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D7BA9E-CF2D-10E7-80C7-4E99A3ECB05F}"/>
              </a:ext>
            </a:extLst>
          </p:cNvPr>
          <p:cNvSpPr>
            <a:spLocks noGrp="1"/>
          </p:cNvSpPr>
          <p:nvPr>
            <p:ph type="dt" sz="half" idx="10"/>
          </p:nvPr>
        </p:nvSpPr>
        <p:spPr/>
        <p:txBody>
          <a:bodyPr/>
          <a:lstStyle/>
          <a:p>
            <a:fld id="{D42C4E2A-1346-4EDD-89A3-2B31A74032BA}" type="datetime1">
              <a:rPr lang="en-US" smtClean="0"/>
              <a:t>9/22/2026</a:t>
            </a:fld>
            <a:endParaRPr lang="en-US"/>
          </a:p>
        </p:txBody>
      </p:sp>
      <p:sp>
        <p:nvSpPr>
          <p:cNvPr id="5" name="Footer Placeholder 4">
            <a:extLst>
              <a:ext uri="{FF2B5EF4-FFF2-40B4-BE49-F238E27FC236}">
                <a16:creationId xmlns:a16="http://schemas.microsoft.com/office/drawing/2014/main" id="{DB1743C8-99D9-8140-5FBB-B157E3470F08}"/>
              </a:ext>
            </a:extLst>
          </p:cNvPr>
          <p:cNvSpPr>
            <a:spLocks noGrp="1"/>
          </p:cNvSpPr>
          <p:nvPr>
            <p:ph type="ftr" sz="quarter" idx="11"/>
          </p:nvPr>
        </p:nvSpPr>
        <p:spPr/>
        <p:txBody>
          <a:bodyPr/>
          <a:lstStyle/>
          <a:p>
            <a:r>
              <a:rPr lang="en-US"/>
              <a:t>AIML, 5TH SEM</a:t>
            </a:r>
          </a:p>
        </p:txBody>
      </p:sp>
      <p:sp>
        <p:nvSpPr>
          <p:cNvPr id="6" name="Slide Number Placeholder 5">
            <a:extLst>
              <a:ext uri="{FF2B5EF4-FFF2-40B4-BE49-F238E27FC236}">
                <a16:creationId xmlns:a16="http://schemas.microsoft.com/office/drawing/2014/main" id="{08B969D7-919F-8CDD-1A96-FF20A2D07DA6}"/>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4209928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C698F-4F55-2096-1E77-44C3BCFEF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49BB4F-D144-CEA8-D67B-E7FE3DCB93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BD991-FB45-5E93-3B1E-353C636372F6}"/>
              </a:ext>
            </a:extLst>
          </p:cNvPr>
          <p:cNvSpPr>
            <a:spLocks noGrp="1"/>
          </p:cNvSpPr>
          <p:nvPr>
            <p:ph type="dt" sz="half" idx="10"/>
          </p:nvPr>
        </p:nvSpPr>
        <p:spPr/>
        <p:txBody>
          <a:bodyPr/>
          <a:lstStyle/>
          <a:p>
            <a:fld id="{67DFF61F-12CF-4020-86DE-AB82D6FC9D08}" type="datetime1">
              <a:rPr lang="en-US" smtClean="0"/>
              <a:t>9/22/2026</a:t>
            </a:fld>
            <a:endParaRPr lang="en-US"/>
          </a:p>
        </p:txBody>
      </p:sp>
      <p:sp>
        <p:nvSpPr>
          <p:cNvPr id="5" name="Footer Placeholder 4">
            <a:extLst>
              <a:ext uri="{FF2B5EF4-FFF2-40B4-BE49-F238E27FC236}">
                <a16:creationId xmlns:a16="http://schemas.microsoft.com/office/drawing/2014/main" id="{2EC5311B-3A18-D2EA-D3D5-4DF9B7655AA0}"/>
              </a:ext>
            </a:extLst>
          </p:cNvPr>
          <p:cNvSpPr>
            <a:spLocks noGrp="1"/>
          </p:cNvSpPr>
          <p:nvPr>
            <p:ph type="ftr" sz="quarter" idx="11"/>
          </p:nvPr>
        </p:nvSpPr>
        <p:spPr/>
        <p:txBody>
          <a:bodyPr/>
          <a:lstStyle/>
          <a:p>
            <a:r>
              <a:rPr lang="en-US"/>
              <a:t>AIML, 5TH SEM</a:t>
            </a:r>
          </a:p>
        </p:txBody>
      </p:sp>
      <p:sp>
        <p:nvSpPr>
          <p:cNvPr id="6" name="Slide Number Placeholder 5">
            <a:extLst>
              <a:ext uri="{FF2B5EF4-FFF2-40B4-BE49-F238E27FC236}">
                <a16:creationId xmlns:a16="http://schemas.microsoft.com/office/drawing/2014/main" id="{6AF30145-72CB-6CF4-22E0-27AD3DF610A0}"/>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2722973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787A2-4BCC-0D50-7D3A-3721BB4C17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66789E-48C6-EB3E-176E-ABED72E536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6B4391-5210-7782-7404-31AA94CE947C}"/>
              </a:ext>
            </a:extLst>
          </p:cNvPr>
          <p:cNvSpPr>
            <a:spLocks noGrp="1"/>
          </p:cNvSpPr>
          <p:nvPr>
            <p:ph type="dt" sz="half" idx="10"/>
          </p:nvPr>
        </p:nvSpPr>
        <p:spPr/>
        <p:txBody>
          <a:bodyPr/>
          <a:lstStyle/>
          <a:p>
            <a:fld id="{F452F3F3-2033-4F8A-8C91-04F048BE3397}" type="datetime1">
              <a:rPr lang="en-US" smtClean="0"/>
              <a:t>9/22/2026</a:t>
            </a:fld>
            <a:endParaRPr lang="en-US"/>
          </a:p>
        </p:txBody>
      </p:sp>
      <p:sp>
        <p:nvSpPr>
          <p:cNvPr id="5" name="Footer Placeholder 4">
            <a:extLst>
              <a:ext uri="{FF2B5EF4-FFF2-40B4-BE49-F238E27FC236}">
                <a16:creationId xmlns:a16="http://schemas.microsoft.com/office/drawing/2014/main" id="{21F876B3-CE47-A6ED-7155-A33238955188}"/>
              </a:ext>
            </a:extLst>
          </p:cNvPr>
          <p:cNvSpPr>
            <a:spLocks noGrp="1"/>
          </p:cNvSpPr>
          <p:nvPr>
            <p:ph type="ftr" sz="quarter" idx="11"/>
          </p:nvPr>
        </p:nvSpPr>
        <p:spPr/>
        <p:txBody>
          <a:bodyPr/>
          <a:lstStyle/>
          <a:p>
            <a:r>
              <a:rPr lang="en-US"/>
              <a:t>AIML, 5TH SEM</a:t>
            </a:r>
          </a:p>
        </p:txBody>
      </p:sp>
      <p:sp>
        <p:nvSpPr>
          <p:cNvPr id="6" name="Slide Number Placeholder 5">
            <a:extLst>
              <a:ext uri="{FF2B5EF4-FFF2-40B4-BE49-F238E27FC236}">
                <a16:creationId xmlns:a16="http://schemas.microsoft.com/office/drawing/2014/main" id="{C118ED65-ACBA-A602-4DB7-3BBFC64785E9}"/>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682965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1DA4C-5F11-1890-E6E2-8C0DBEB6E7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37059E-2A3B-C2AF-0BF5-E4BDB7322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C1C8F9-E8CD-B315-F8A2-856A450B51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AFDC29-7B2C-4203-9842-B5956D629B6E}"/>
              </a:ext>
            </a:extLst>
          </p:cNvPr>
          <p:cNvSpPr>
            <a:spLocks noGrp="1"/>
          </p:cNvSpPr>
          <p:nvPr>
            <p:ph type="dt" sz="half" idx="10"/>
          </p:nvPr>
        </p:nvSpPr>
        <p:spPr/>
        <p:txBody>
          <a:bodyPr/>
          <a:lstStyle/>
          <a:p>
            <a:fld id="{0DC52770-289A-4F3C-8118-C7B5DD196028}" type="datetime1">
              <a:rPr lang="en-US" smtClean="0"/>
              <a:t>9/22/2026</a:t>
            </a:fld>
            <a:endParaRPr lang="en-US"/>
          </a:p>
        </p:txBody>
      </p:sp>
      <p:sp>
        <p:nvSpPr>
          <p:cNvPr id="6" name="Footer Placeholder 5">
            <a:extLst>
              <a:ext uri="{FF2B5EF4-FFF2-40B4-BE49-F238E27FC236}">
                <a16:creationId xmlns:a16="http://schemas.microsoft.com/office/drawing/2014/main" id="{5B6EB9B5-9A29-F429-6E2B-8F2E772FFA70}"/>
              </a:ext>
            </a:extLst>
          </p:cNvPr>
          <p:cNvSpPr>
            <a:spLocks noGrp="1"/>
          </p:cNvSpPr>
          <p:nvPr>
            <p:ph type="ftr" sz="quarter" idx="11"/>
          </p:nvPr>
        </p:nvSpPr>
        <p:spPr/>
        <p:txBody>
          <a:bodyPr/>
          <a:lstStyle/>
          <a:p>
            <a:r>
              <a:rPr lang="en-US"/>
              <a:t>AIML, 5TH SEM</a:t>
            </a:r>
          </a:p>
        </p:txBody>
      </p:sp>
      <p:sp>
        <p:nvSpPr>
          <p:cNvPr id="7" name="Slide Number Placeholder 6">
            <a:extLst>
              <a:ext uri="{FF2B5EF4-FFF2-40B4-BE49-F238E27FC236}">
                <a16:creationId xmlns:a16="http://schemas.microsoft.com/office/drawing/2014/main" id="{7366D978-2F89-DECC-ABBD-636A6CEEEF5C}"/>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152371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7424-E372-9262-B2C4-FC3B2C3658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F10ED3-7593-B5C2-019B-E0FE812B4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C48F1-11BA-16CF-2CA8-2885398E3F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D89122-2626-11CA-0598-2F6D7FB512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BAA5-37DA-81EC-C5A0-E92DBFEEA6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3226ED-6996-53FD-4395-DCE45050D0D7}"/>
              </a:ext>
            </a:extLst>
          </p:cNvPr>
          <p:cNvSpPr>
            <a:spLocks noGrp="1"/>
          </p:cNvSpPr>
          <p:nvPr>
            <p:ph type="dt" sz="half" idx="10"/>
          </p:nvPr>
        </p:nvSpPr>
        <p:spPr/>
        <p:txBody>
          <a:bodyPr/>
          <a:lstStyle/>
          <a:p>
            <a:fld id="{69D670D4-3037-42A7-92B8-0A3925DB23B8}" type="datetime1">
              <a:rPr lang="en-US" smtClean="0"/>
              <a:t>9/22/2026</a:t>
            </a:fld>
            <a:endParaRPr lang="en-US"/>
          </a:p>
        </p:txBody>
      </p:sp>
      <p:sp>
        <p:nvSpPr>
          <p:cNvPr id="8" name="Footer Placeholder 7">
            <a:extLst>
              <a:ext uri="{FF2B5EF4-FFF2-40B4-BE49-F238E27FC236}">
                <a16:creationId xmlns:a16="http://schemas.microsoft.com/office/drawing/2014/main" id="{6B284609-A9EA-BA18-5ABF-B85ACF02000E}"/>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E7A7676D-6F2D-305A-9634-8BE081903933}"/>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125488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4627E-6895-4981-05A8-28964143C3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B8252D-E5BB-5F6B-DA0A-FA7969D09673}"/>
              </a:ext>
            </a:extLst>
          </p:cNvPr>
          <p:cNvSpPr>
            <a:spLocks noGrp="1"/>
          </p:cNvSpPr>
          <p:nvPr>
            <p:ph type="dt" sz="half" idx="10"/>
          </p:nvPr>
        </p:nvSpPr>
        <p:spPr/>
        <p:txBody>
          <a:bodyPr/>
          <a:lstStyle/>
          <a:p>
            <a:fld id="{56986AD1-C367-4EB4-9C48-27FE3CAADB0E}" type="datetime1">
              <a:rPr lang="en-US" smtClean="0"/>
              <a:t>9/22/2026</a:t>
            </a:fld>
            <a:endParaRPr lang="en-US"/>
          </a:p>
        </p:txBody>
      </p:sp>
      <p:sp>
        <p:nvSpPr>
          <p:cNvPr id="4" name="Footer Placeholder 3">
            <a:extLst>
              <a:ext uri="{FF2B5EF4-FFF2-40B4-BE49-F238E27FC236}">
                <a16:creationId xmlns:a16="http://schemas.microsoft.com/office/drawing/2014/main" id="{30FB06AB-3632-86BD-2DB3-2AD976156B99}"/>
              </a:ext>
            </a:extLst>
          </p:cNvPr>
          <p:cNvSpPr>
            <a:spLocks noGrp="1"/>
          </p:cNvSpPr>
          <p:nvPr>
            <p:ph type="ftr" sz="quarter" idx="11"/>
          </p:nvPr>
        </p:nvSpPr>
        <p:spPr/>
        <p:txBody>
          <a:bodyPr/>
          <a:lstStyle/>
          <a:p>
            <a:r>
              <a:rPr lang="en-US"/>
              <a:t>AIML, 5TH SEM</a:t>
            </a:r>
          </a:p>
        </p:txBody>
      </p:sp>
      <p:sp>
        <p:nvSpPr>
          <p:cNvPr id="5" name="Slide Number Placeholder 4">
            <a:extLst>
              <a:ext uri="{FF2B5EF4-FFF2-40B4-BE49-F238E27FC236}">
                <a16:creationId xmlns:a16="http://schemas.microsoft.com/office/drawing/2014/main" id="{A6E352F9-C5C1-B050-C79B-1982898A1FA5}"/>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412946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8DAB8-EED1-ED3F-50DA-9077DBD4AA58}"/>
              </a:ext>
            </a:extLst>
          </p:cNvPr>
          <p:cNvSpPr>
            <a:spLocks noGrp="1"/>
          </p:cNvSpPr>
          <p:nvPr>
            <p:ph type="dt" sz="half" idx="10"/>
          </p:nvPr>
        </p:nvSpPr>
        <p:spPr/>
        <p:txBody>
          <a:bodyPr/>
          <a:lstStyle/>
          <a:p>
            <a:fld id="{8F0ED9F4-F835-4294-9287-0C0F403504B2}" type="datetime1">
              <a:rPr lang="en-US" smtClean="0"/>
              <a:t>9/22/2026</a:t>
            </a:fld>
            <a:endParaRPr lang="en-US"/>
          </a:p>
        </p:txBody>
      </p:sp>
      <p:sp>
        <p:nvSpPr>
          <p:cNvPr id="3" name="Footer Placeholder 2">
            <a:extLst>
              <a:ext uri="{FF2B5EF4-FFF2-40B4-BE49-F238E27FC236}">
                <a16:creationId xmlns:a16="http://schemas.microsoft.com/office/drawing/2014/main" id="{5D4E872A-A8F5-562F-1DB1-11EC23107B31}"/>
              </a:ext>
            </a:extLst>
          </p:cNvPr>
          <p:cNvSpPr>
            <a:spLocks noGrp="1"/>
          </p:cNvSpPr>
          <p:nvPr>
            <p:ph type="ftr" sz="quarter" idx="11"/>
          </p:nvPr>
        </p:nvSpPr>
        <p:spPr/>
        <p:txBody>
          <a:bodyPr/>
          <a:lstStyle/>
          <a:p>
            <a:r>
              <a:rPr lang="en-US"/>
              <a:t>AIML, 5TH SEM</a:t>
            </a:r>
          </a:p>
        </p:txBody>
      </p:sp>
      <p:sp>
        <p:nvSpPr>
          <p:cNvPr id="4" name="Slide Number Placeholder 3">
            <a:extLst>
              <a:ext uri="{FF2B5EF4-FFF2-40B4-BE49-F238E27FC236}">
                <a16:creationId xmlns:a16="http://schemas.microsoft.com/office/drawing/2014/main" id="{BD418CD0-0C56-37A8-C2F1-A26B884A2E4B}"/>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52728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8B50-B5AE-D593-CE11-819B7FE47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073361-4B29-C996-56B3-A47329E6A0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768E96-D23F-13EA-DE2B-A9453D0E88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E3E89-484D-EEDB-A60D-2E91374AEC79}"/>
              </a:ext>
            </a:extLst>
          </p:cNvPr>
          <p:cNvSpPr>
            <a:spLocks noGrp="1"/>
          </p:cNvSpPr>
          <p:nvPr>
            <p:ph type="dt" sz="half" idx="10"/>
          </p:nvPr>
        </p:nvSpPr>
        <p:spPr/>
        <p:txBody>
          <a:bodyPr/>
          <a:lstStyle/>
          <a:p>
            <a:fld id="{9D586434-BE62-4F4F-BC74-E796B9DF186A}" type="datetime1">
              <a:rPr lang="en-US" smtClean="0"/>
              <a:t>9/22/2026</a:t>
            </a:fld>
            <a:endParaRPr lang="en-US"/>
          </a:p>
        </p:txBody>
      </p:sp>
      <p:sp>
        <p:nvSpPr>
          <p:cNvPr id="6" name="Footer Placeholder 5">
            <a:extLst>
              <a:ext uri="{FF2B5EF4-FFF2-40B4-BE49-F238E27FC236}">
                <a16:creationId xmlns:a16="http://schemas.microsoft.com/office/drawing/2014/main" id="{3A6FCE42-9C31-65AA-00A8-34301EF2B86B}"/>
              </a:ext>
            </a:extLst>
          </p:cNvPr>
          <p:cNvSpPr>
            <a:spLocks noGrp="1"/>
          </p:cNvSpPr>
          <p:nvPr>
            <p:ph type="ftr" sz="quarter" idx="11"/>
          </p:nvPr>
        </p:nvSpPr>
        <p:spPr/>
        <p:txBody>
          <a:bodyPr/>
          <a:lstStyle/>
          <a:p>
            <a:r>
              <a:rPr lang="en-US"/>
              <a:t>AIML, 5TH SEM</a:t>
            </a:r>
          </a:p>
        </p:txBody>
      </p:sp>
      <p:sp>
        <p:nvSpPr>
          <p:cNvPr id="7" name="Slide Number Placeholder 6">
            <a:extLst>
              <a:ext uri="{FF2B5EF4-FFF2-40B4-BE49-F238E27FC236}">
                <a16:creationId xmlns:a16="http://schemas.microsoft.com/office/drawing/2014/main" id="{EA1A1C8C-C8CE-2D7C-E906-347D37CE568B}"/>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1144931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C56F-2535-249D-8135-08FDFCB9B0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02196D-D38C-3EE9-3271-C545B82EA8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AAB816-0566-B197-620F-D36606AE6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B377E-CA2D-7C88-20B5-2CC79C3AB8D0}"/>
              </a:ext>
            </a:extLst>
          </p:cNvPr>
          <p:cNvSpPr>
            <a:spLocks noGrp="1"/>
          </p:cNvSpPr>
          <p:nvPr>
            <p:ph type="dt" sz="half" idx="10"/>
          </p:nvPr>
        </p:nvSpPr>
        <p:spPr/>
        <p:txBody>
          <a:bodyPr/>
          <a:lstStyle/>
          <a:p>
            <a:fld id="{9557EA51-5ACA-487C-A1B6-91675C717C64}" type="datetime1">
              <a:rPr lang="en-US" smtClean="0"/>
              <a:t>9/22/2026</a:t>
            </a:fld>
            <a:endParaRPr lang="en-US"/>
          </a:p>
        </p:txBody>
      </p:sp>
      <p:sp>
        <p:nvSpPr>
          <p:cNvPr id="6" name="Footer Placeholder 5">
            <a:extLst>
              <a:ext uri="{FF2B5EF4-FFF2-40B4-BE49-F238E27FC236}">
                <a16:creationId xmlns:a16="http://schemas.microsoft.com/office/drawing/2014/main" id="{A32D6C1C-C22D-EA63-62C6-E49C34EFB2F8}"/>
              </a:ext>
            </a:extLst>
          </p:cNvPr>
          <p:cNvSpPr>
            <a:spLocks noGrp="1"/>
          </p:cNvSpPr>
          <p:nvPr>
            <p:ph type="ftr" sz="quarter" idx="11"/>
          </p:nvPr>
        </p:nvSpPr>
        <p:spPr/>
        <p:txBody>
          <a:bodyPr/>
          <a:lstStyle/>
          <a:p>
            <a:r>
              <a:rPr lang="en-US"/>
              <a:t>AIML, 5TH SEM</a:t>
            </a:r>
          </a:p>
        </p:txBody>
      </p:sp>
      <p:sp>
        <p:nvSpPr>
          <p:cNvPr id="7" name="Slide Number Placeholder 6">
            <a:extLst>
              <a:ext uri="{FF2B5EF4-FFF2-40B4-BE49-F238E27FC236}">
                <a16:creationId xmlns:a16="http://schemas.microsoft.com/office/drawing/2014/main" id="{3F52640E-1E76-810D-BD01-26B80B69EE44}"/>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399962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B97C9-69CC-E1B5-7550-66075C6B69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3AE590-AC74-13C7-BCB6-4FBE884761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2641D-8CF6-78D6-36BA-06E01A426FF5}"/>
              </a:ext>
            </a:extLst>
          </p:cNvPr>
          <p:cNvSpPr>
            <a:spLocks noGrp="1"/>
          </p:cNvSpPr>
          <p:nvPr>
            <p:ph type="dt" sz="half" idx="10"/>
          </p:nvPr>
        </p:nvSpPr>
        <p:spPr/>
        <p:txBody>
          <a:bodyPr/>
          <a:lstStyle/>
          <a:p>
            <a:fld id="{CD20F07B-ECCC-4924-97BB-1BE336E04A9E}" type="datetime1">
              <a:rPr lang="en-US" smtClean="0"/>
              <a:t>9/22/2026</a:t>
            </a:fld>
            <a:endParaRPr lang="en-US"/>
          </a:p>
        </p:txBody>
      </p:sp>
      <p:sp>
        <p:nvSpPr>
          <p:cNvPr id="5" name="Footer Placeholder 4">
            <a:extLst>
              <a:ext uri="{FF2B5EF4-FFF2-40B4-BE49-F238E27FC236}">
                <a16:creationId xmlns:a16="http://schemas.microsoft.com/office/drawing/2014/main" id="{F08766B3-B1F9-5067-0162-6EEAE3F3543D}"/>
              </a:ext>
            </a:extLst>
          </p:cNvPr>
          <p:cNvSpPr>
            <a:spLocks noGrp="1"/>
          </p:cNvSpPr>
          <p:nvPr>
            <p:ph type="ftr" sz="quarter" idx="11"/>
          </p:nvPr>
        </p:nvSpPr>
        <p:spPr/>
        <p:txBody>
          <a:bodyPr/>
          <a:lstStyle/>
          <a:p>
            <a:r>
              <a:rPr lang="en-US"/>
              <a:t>AIML, 5TH SEM</a:t>
            </a:r>
          </a:p>
        </p:txBody>
      </p:sp>
      <p:sp>
        <p:nvSpPr>
          <p:cNvPr id="6" name="Slide Number Placeholder 5">
            <a:extLst>
              <a:ext uri="{FF2B5EF4-FFF2-40B4-BE49-F238E27FC236}">
                <a16:creationId xmlns:a16="http://schemas.microsoft.com/office/drawing/2014/main" id="{EFBA21A0-4868-85F2-6CBE-851FE143D9CE}"/>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1568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BE07F8-8C15-7684-216B-BCFC91B3AB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55ED8D-288C-57D8-9E98-B6566FF5BB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6CC516-E4DB-754A-9A9D-07B9B25AF48F}"/>
              </a:ext>
            </a:extLst>
          </p:cNvPr>
          <p:cNvSpPr>
            <a:spLocks noGrp="1"/>
          </p:cNvSpPr>
          <p:nvPr>
            <p:ph type="dt" sz="half" idx="10"/>
          </p:nvPr>
        </p:nvSpPr>
        <p:spPr/>
        <p:txBody>
          <a:bodyPr/>
          <a:lstStyle/>
          <a:p>
            <a:fld id="{ACF59B88-C995-442F-BC92-32DB525A5B88}" type="datetime1">
              <a:rPr lang="en-US" smtClean="0"/>
              <a:t>9/22/2026</a:t>
            </a:fld>
            <a:endParaRPr lang="en-US"/>
          </a:p>
        </p:txBody>
      </p:sp>
      <p:sp>
        <p:nvSpPr>
          <p:cNvPr id="5" name="Footer Placeholder 4">
            <a:extLst>
              <a:ext uri="{FF2B5EF4-FFF2-40B4-BE49-F238E27FC236}">
                <a16:creationId xmlns:a16="http://schemas.microsoft.com/office/drawing/2014/main" id="{1D0B3634-E859-4343-273C-A9A34EA204A1}"/>
              </a:ext>
            </a:extLst>
          </p:cNvPr>
          <p:cNvSpPr>
            <a:spLocks noGrp="1"/>
          </p:cNvSpPr>
          <p:nvPr>
            <p:ph type="ftr" sz="quarter" idx="11"/>
          </p:nvPr>
        </p:nvSpPr>
        <p:spPr/>
        <p:txBody>
          <a:bodyPr/>
          <a:lstStyle/>
          <a:p>
            <a:r>
              <a:rPr lang="en-US"/>
              <a:t>AIML, 5TH SEM</a:t>
            </a:r>
          </a:p>
        </p:txBody>
      </p:sp>
      <p:sp>
        <p:nvSpPr>
          <p:cNvPr id="6" name="Slide Number Placeholder 5">
            <a:extLst>
              <a:ext uri="{FF2B5EF4-FFF2-40B4-BE49-F238E27FC236}">
                <a16:creationId xmlns:a16="http://schemas.microsoft.com/office/drawing/2014/main" id="{4FEE7BC0-B0D6-75AB-4425-411EDEE28846}"/>
              </a:ext>
            </a:extLst>
          </p:cNvPr>
          <p:cNvSpPr>
            <a:spLocks noGrp="1"/>
          </p:cNvSpPr>
          <p:nvPr>
            <p:ph type="sldNum" sz="quarter" idx="12"/>
          </p:nvPr>
        </p:nvSpPr>
        <p:spPr/>
        <p:txBody>
          <a:bodyPr/>
          <a:lstStyle/>
          <a:p>
            <a:fld id="{099CF9D6-C8DD-42B2-8F38-039A05793DC1}" type="slidenum">
              <a:rPr lang="en-US" smtClean="0"/>
              <a:t>‹#›</a:t>
            </a:fld>
            <a:endParaRPr lang="en-US"/>
          </a:p>
        </p:txBody>
      </p:sp>
    </p:spTree>
    <p:extLst>
      <p:ext uri="{BB962C8B-B14F-4D97-AF65-F5344CB8AC3E}">
        <p14:creationId xmlns:p14="http://schemas.microsoft.com/office/powerpoint/2010/main" val="21206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05C76-7C78-C866-767D-969D53671F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7F0816-F480-A776-598D-622C5A1E66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7A9BC-6493-DE76-6F94-BDED5F715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D0C050-60BF-4505-BD3E-025E481839B7}" type="datetime1">
              <a:rPr lang="en-US" smtClean="0"/>
              <a:t>9/22/2026</a:t>
            </a:fld>
            <a:endParaRPr lang="en-US"/>
          </a:p>
        </p:txBody>
      </p:sp>
      <p:sp>
        <p:nvSpPr>
          <p:cNvPr id="5" name="Footer Placeholder 4">
            <a:extLst>
              <a:ext uri="{FF2B5EF4-FFF2-40B4-BE49-F238E27FC236}">
                <a16:creationId xmlns:a16="http://schemas.microsoft.com/office/drawing/2014/main" id="{47B95F11-B875-60A6-824F-23D4EB95E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AIML, 5TH SEM</a:t>
            </a:r>
          </a:p>
        </p:txBody>
      </p:sp>
      <p:sp>
        <p:nvSpPr>
          <p:cNvPr id="6" name="Slide Number Placeholder 5">
            <a:extLst>
              <a:ext uri="{FF2B5EF4-FFF2-40B4-BE49-F238E27FC236}">
                <a16:creationId xmlns:a16="http://schemas.microsoft.com/office/drawing/2014/main" id="{E5C4358B-0503-BE20-6B8A-5A3786EBB5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CF9D6-C8DD-42B2-8F38-039A05793DC1}" type="slidenum">
              <a:rPr lang="en-US" smtClean="0"/>
              <a:t>‹#›</a:t>
            </a:fld>
            <a:endParaRPr lang="en-US"/>
          </a:p>
        </p:txBody>
      </p:sp>
    </p:spTree>
    <p:extLst>
      <p:ext uri="{BB962C8B-B14F-4D97-AF65-F5344CB8AC3E}">
        <p14:creationId xmlns:p14="http://schemas.microsoft.com/office/powerpoint/2010/main" val="1226061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56C8-1D84-1BF7-753F-4B72088F256A}"/>
              </a:ext>
            </a:extLst>
          </p:cNvPr>
          <p:cNvSpPr>
            <a:spLocks noGrp="1"/>
          </p:cNvSpPr>
          <p:nvPr>
            <p:ph type="ctrTitle"/>
          </p:nvPr>
        </p:nvSpPr>
        <p:spPr>
          <a:xfrm>
            <a:off x="1524000" y="1122363"/>
            <a:ext cx="9144000" cy="2387600"/>
          </a:xfrm>
        </p:spPr>
        <p:txBody>
          <a:bodyPr>
            <a:normAutofit fontScale="90000"/>
          </a:bodyPr>
          <a:lstStyle/>
          <a:p>
            <a:r>
              <a:rPr lang="en-US" dirty="0"/>
              <a:t>Design and Analysis of Algorithms</a:t>
            </a:r>
            <a:br>
              <a:rPr lang="en-US" dirty="0"/>
            </a:br>
            <a:r>
              <a:rPr lang="en-US" dirty="0"/>
              <a:t>CSEL30503MJ</a:t>
            </a:r>
          </a:p>
        </p:txBody>
      </p:sp>
      <p:sp>
        <p:nvSpPr>
          <p:cNvPr id="3" name="Subtitle 2">
            <a:extLst>
              <a:ext uri="{FF2B5EF4-FFF2-40B4-BE49-F238E27FC236}">
                <a16:creationId xmlns:a16="http://schemas.microsoft.com/office/drawing/2014/main" id="{62985983-D0B4-7106-DD13-106D570ACD7F}"/>
              </a:ext>
            </a:extLst>
          </p:cNvPr>
          <p:cNvSpPr>
            <a:spLocks noGrp="1"/>
          </p:cNvSpPr>
          <p:nvPr>
            <p:ph type="subTitle" idx="1"/>
          </p:nvPr>
        </p:nvSpPr>
        <p:spPr>
          <a:xfrm>
            <a:off x="1524000" y="3602038"/>
            <a:ext cx="9144000" cy="1655762"/>
          </a:xfrm>
        </p:spPr>
        <p:txBody>
          <a:bodyPr>
            <a:normAutofit/>
          </a:bodyPr>
          <a:lstStyle/>
          <a:p>
            <a:r>
              <a:rPr lang="en-US" dirty="0"/>
              <a:t>Module - 2</a:t>
            </a:r>
          </a:p>
          <a:p>
            <a:r>
              <a:rPr lang="en-IN" dirty="0"/>
              <a:t>Dynamic Programming</a:t>
            </a:r>
            <a:endParaRPr lang="en-US" dirty="0"/>
          </a:p>
        </p:txBody>
      </p:sp>
    </p:spTree>
    <p:extLst>
      <p:ext uri="{BB962C8B-B14F-4D97-AF65-F5344CB8AC3E}">
        <p14:creationId xmlns:p14="http://schemas.microsoft.com/office/powerpoint/2010/main" val="2019154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5B9F-4CCB-8566-5568-143E84751D69}"/>
              </a:ext>
            </a:extLst>
          </p:cNvPr>
          <p:cNvSpPr>
            <a:spLocks noGrp="1"/>
          </p:cNvSpPr>
          <p:nvPr>
            <p:ph type="title"/>
          </p:nvPr>
        </p:nvSpPr>
        <p:spPr>
          <a:xfrm>
            <a:off x="838200" y="365125"/>
            <a:ext cx="10515600" cy="703387"/>
          </a:xfrm>
        </p:spPr>
        <p:txBody>
          <a:bodyPr>
            <a:normAutofit fontScale="90000"/>
          </a:bodyPr>
          <a:lstStyle/>
          <a:p>
            <a:pPr algn="ctr"/>
            <a:r>
              <a:rPr lang="en-US" sz="6000" dirty="0"/>
              <a:t>Content</a:t>
            </a:r>
          </a:p>
        </p:txBody>
      </p:sp>
      <p:sp>
        <p:nvSpPr>
          <p:cNvPr id="3" name="Content Placeholder 2">
            <a:extLst>
              <a:ext uri="{FF2B5EF4-FFF2-40B4-BE49-F238E27FC236}">
                <a16:creationId xmlns:a16="http://schemas.microsoft.com/office/drawing/2014/main" id="{302C677F-A57D-9F55-9AD5-B5AFA8B57E2C}"/>
              </a:ext>
            </a:extLst>
          </p:cNvPr>
          <p:cNvSpPr>
            <a:spLocks noGrp="1"/>
          </p:cNvSpPr>
          <p:nvPr>
            <p:ph idx="1"/>
          </p:nvPr>
        </p:nvSpPr>
        <p:spPr>
          <a:xfrm>
            <a:off x="838200" y="1068512"/>
            <a:ext cx="10515600" cy="5108451"/>
          </a:xfrm>
        </p:spPr>
        <p:txBody>
          <a:bodyPr>
            <a:normAutofit/>
          </a:bodyPr>
          <a:lstStyle/>
          <a:p>
            <a:pPr algn="ctr"/>
            <a:r>
              <a:rPr lang="en-US" sz="4000" dirty="0">
                <a:latin typeface="Times New Roman" panose="02020603050405020304" pitchFamily="18" charset="0"/>
                <a:cs typeface="Times New Roman" panose="02020603050405020304" pitchFamily="18" charset="0"/>
              </a:rPr>
              <a:t>Introduction</a:t>
            </a:r>
          </a:p>
          <a:p>
            <a:pPr algn="ctr"/>
            <a:r>
              <a:rPr lang="en-US" sz="4000" kern="0" dirty="0">
                <a:effectLst/>
                <a:latin typeface="Times New Roman" panose="02020603050405020304" pitchFamily="18" charset="0"/>
                <a:ea typeface="Calibri" panose="020F0502020204030204" pitchFamily="34" charset="0"/>
              </a:rPr>
              <a:t>Matrix Chain Multiplication, </a:t>
            </a:r>
          </a:p>
          <a:p>
            <a:pPr algn="ctr"/>
            <a:r>
              <a:rPr lang="en-US" sz="4000" kern="0" dirty="0">
                <a:effectLst/>
                <a:latin typeface="Times New Roman" panose="02020603050405020304" pitchFamily="18" charset="0"/>
                <a:ea typeface="Calibri" panose="020F0502020204030204" pitchFamily="34" charset="0"/>
              </a:rPr>
              <a:t>All pair shortest paths, </a:t>
            </a:r>
          </a:p>
          <a:p>
            <a:pPr algn="ctr"/>
            <a:r>
              <a:rPr lang="en-US" sz="4000" kern="0" dirty="0">
                <a:latin typeface="Times New Roman" panose="02020603050405020304" pitchFamily="18" charset="0"/>
                <a:ea typeface="Calibri" panose="020F0502020204030204" pitchFamily="34" charset="0"/>
              </a:rPr>
              <a:t>S</a:t>
            </a:r>
            <a:r>
              <a:rPr lang="en-US" sz="4000" kern="0" dirty="0">
                <a:effectLst/>
                <a:latin typeface="Times New Roman" panose="02020603050405020304" pitchFamily="18" charset="0"/>
                <a:ea typeface="Calibri" panose="020F0502020204030204" pitchFamily="34" charset="0"/>
              </a:rPr>
              <a:t>ingle source shortest path, </a:t>
            </a:r>
          </a:p>
          <a:p>
            <a:pPr algn="ctr"/>
            <a:r>
              <a:rPr lang="en-US" sz="4000" kern="0" dirty="0">
                <a:effectLst/>
                <a:latin typeface="Times New Roman" panose="02020603050405020304" pitchFamily="18" charset="0"/>
                <a:ea typeface="Calibri" panose="020F0502020204030204" pitchFamily="34" charset="0"/>
              </a:rPr>
              <a:t>Longest Common Subsequence,</a:t>
            </a:r>
          </a:p>
          <a:p>
            <a:pPr algn="ctr"/>
            <a:r>
              <a:rPr lang="en-US" sz="4000" kern="0" dirty="0">
                <a:effectLst/>
                <a:latin typeface="Times New Roman" panose="02020603050405020304" pitchFamily="18" charset="0"/>
                <a:ea typeface="Calibri" panose="020F0502020204030204" pitchFamily="34" charset="0"/>
              </a:rPr>
              <a:t>0/1 Knapsack Problem</a:t>
            </a:r>
            <a:r>
              <a:rPr lang="en-US" sz="4000" kern="0" dirty="0">
                <a:latin typeface="Times New Roman" panose="02020603050405020304" pitchFamily="18" charset="0"/>
                <a:ea typeface="Calibri" panose="020F0502020204030204" pitchFamily="34" charset="0"/>
              </a:rPr>
              <a:t>,</a:t>
            </a:r>
            <a:endParaRPr lang="en-US" sz="4000" kern="0" dirty="0">
              <a:effectLst/>
              <a:latin typeface="Times New Roman" panose="02020603050405020304" pitchFamily="18" charset="0"/>
              <a:ea typeface="Calibri" panose="020F0502020204030204" pitchFamily="34" charset="0"/>
            </a:endParaRPr>
          </a:p>
          <a:p>
            <a:pPr algn="ctr"/>
            <a:r>
              <a:rPr lang="en-US" sz="4000" dirty="0">
                <a:latin typeface="Times New Roman" panose="02020603050405020304" pitchFamily="18" charset="0"/>
                <a:cs typeface="Times New Roman" panose="02020603050405020304" pitchFamily="18" charset="0"/>
              </a:rPr>
              <a:t>Suggestive Questions </a:t>
            </a:r>
          </a:p>
          <a:p>
            <a:pPr algn="ctr"/>
            <a:endParaRPr lang="en-US" sz="4000" dirty="0"/>
          </a:p>
          <a:p>
            <a:pPr algn="ctr"/>
            <a:endParaRPr lang="en-US" sz="4000" dirty="0"/>
          </a:p>
          <a:p>
            <a:pPr algn="ctr"/>
            <a:endParaRPr lang="en-US" sz="4000" dirty="0"/>
          </a:p>
          <a:p>
            <a:pPr algn="ctr"/>
            <a:endParaRPr lang="en-US" sz="4000" dirty="0"/>
          </a:p>
        </p:txBody>
      </p:sp>
      <p:sp>
        <p:nvSpPr>
          <p:cNvPr id="7" name="Date Placeholder 6">
            <a:extLst>
              <a:ext uri="{FF2B5EF4-FFF2-40B4-BE49-F238E27FC236}">
                <a16:creationId xmlns:a16="http://schemas.microsoft.com/office/drawing/2014/main" id="{1C7F020E-CE9B-4790-BC82-47C929DB4D4F}"/>
              </a:ext>
            </a:extLst>
          </p:cNvPr>
          <p:cNvSpPr>
            <a:spLocks noGrp="1"/>
          </p:cNvSpPr>
          <p:nvPr>
            <p:ph type="dt" sz="half" idx="10"/>
          </p:nvPr>
        </p:nvSpPr>
        <p:spPr/>
        <p:txBody>
          <a:bodyPr/>
          <a:lstStyle/>
          <a:p>
            <a:fld id="{B8D66BE7-53CC-4EBA-995A-DCF46F762291}" type="datetime1">
              <a:rPr lang="en-US" smtClean="0"/>
              <a:t>9/22/2026</a:t>
            </a:fld>
            <a:endParaRPr lang="en-US"/>
          </a:p>
        </p:txBody>
      </p:sp>
      <p:sp>
        <p:nvSpPr>
          <p:cNvPr id="8" name="Footer Placeholder 7">
            <a:extLst>
              <a:ext uri="{FF2B5EF4-FFF2-40B4-BE49-F238E27FC236}">
                <a16:creationId xmlns:a16="http://schemas.microsoft.com/office/drawing/2014/main" id="{7B46FB7F-8332-E55E-3657-48E5A8ABB8E4}"/>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826F20D6-F7F8-9D36-0DA6-1173B4FB72FC}"/>
              </a:ext>
            </a:extLst>
          </p:cNvPr>
          <p:cNvSpPr>
            <a:spLocks noGrp="1"/>
          </p:cNvSpPr>
          <p:nvPr>
            <p:ph type="sldNum" sz="quarter" idx="12"/>
          </p:nvPr>
        </p:nvSpPr>
        <p:spPr/>
        <p:txBody>
          <a:bodyPr/>
          <a:lstStyle/>
          <a:p>
            <a:fld id="{099CF9D6-C8DD-42B2-8F38-039A05793DC1}" type="slidenum">
              <a:rPr lang="en-US" smtClean="0"/>
              <a:t>2</a:t>
            </a:fld>
            <a:endParaRPr lang="en-US"/>
          </a:p>
        </p:txBody>
      </p:sp>
    </p:spTree>
    <p:extLst>
      <p:ext uri="{BB962C8B-B14F-4D97-AF65-F5344CB8AC3E}">
        <p14:creationId xmlns:p14="http://schemas.microsoft.com/office/powerpoint/2010/main" val="1566167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7F86-CE96-C6C9-33F5-1E20054F7D4D}"/>
              </a:ext>
            </a:extLst>
          </p:cNvPr>
          <p:cNvSpPr>
            <a:spLocks noGrp="1"/>
          </p:cNvSpPr>
          <p:nvPr>
            <p:ph type="title"/>
          </p:nvPr>
        </p:nvSpPr>
        <p:spPr>
          <a:xfrm>
            <a:off x="838200" y="801384"/>
            <a:ext cx="10515600" cy="467886"/>
          </a:xfrm>
        </p:spPr>
        <p:txBody>
          <a:bodyPr>
            <a:normAutofit fontScale="90000"/>
          </a:bodyPr>
          <a:lstStyle/>
          <a:p>
            <a:pPr algn="ctr"/>
            <a:r>
              <a:rPr lang="en-US" sz="6000" dirty="0">
                <a:latin typeface="Times New Roman" panose="02020603050405020304" pitchFamily="18" charset="0"/>
                <a:cs typeface="Times New Roman" panose="02020603050405020304" pitchFamily="18" charset="0"/>
              </a:rPr>
              <a:t>Introduction: Dynamic Programming</a:t>
            </a:r>
            <a:br>
              <a:rPr lang="en-US" sz="6000" dirty="0">
                <a:latin typeface="Times New Roman" panose="02020603050405020304" pitchFamily="18" charset="0"/>
                <a:cs typeface="Times New Roman" panose="02020603050405020304" pitchFamily="18" charset="0"/>
              </a:rPr>
            </a:br>
            <a:endParaRPr lang="en-US" sz="6000" dirty="0"/>
          </a:p>
        </p:txBody>
      </p:sp>
      <p:sp>
        <p:nvSpPr>
          <p:cNvPr id="3" name="Content Placeholder 2">
            <a:extLst>
              <a:ext uri="{FF2B5EF4-FFF2-40B4-BE49-F238E27FC236}">
                <a16:creationId xmlns:a16="http://schemas.microsoft.com/office/drawing/2014/main" id="{8619C6F0-9EC2-2A46-7DD5-5E83CE343ABE}"/>
              </a:ext>
            </a:extLst>
          </p:cNvPr>
          <p:cNvSpPr>
            <a:spLocks noGrp="1"/>
          </p:cNvSpPr>
          <p:nvPr>
            <p:ph idx="1"/>
          </p:nvPr>
        </p:nvSpPr>
        <p:spPr>
          <a:xfrm>
            <a:off x="838200" y="1171254"/>
            <a:ext cx="10515600" cy="5005709"/>
          </a:xfrm>
        </p:spPr>
        <p:txBody>
          <a:bodyPr>
            <a:normAutofit/>
          </a:bodyPr>
          <a:lstStyle/>
          <a:p>
            <a:pPr algn="just">
              <a:buNone/>
            </a:pPr>
            <a:r>
              <a:rPr lang="en-US" dirty="0"/>
              <a:t>	Dynamic Programming (DP) is a powerful algorithmic technique used to solve complex problems by breaking them down into simpler subproblems. Its core principle relies on two key properties:</a:t>
            </a:r>
          </a:p>
          <a:p>
            <a:pPr algn="just">
              <a:buFont typeface="+mj-lt"/>
              <a:buAutoNum type="arabicPeriod"/>
            </a:pPr>
            <a:r>
              <a:rPr lang="en-US" b="1" dirty="0"/>
              <a:t>Optimal Substructure:</a:t>
            </a:r>
            <a:r>
              <a:rPr lang="en-US" dirty="0"/>
              <a:t> An optimal solution to a problem contains within its optimal solutions to its subproblems.</a:t>
            </a:r>
          </a:p>
          <a:p>
            <a:pPr algn="just">
              <a:buFont typeface="+mj-lt"/>
              <a:buAutoNum type="arabicPeriod"/>
            </a:pPr>
            <a:r>
              <a:rPr lang="en-US" b="1" dirty="0"/>
              <a:t>Overlapping Subproblems:</a:t>
            </a:r>
            <a:r>
              <a:rPr lang="en-US" dirty="0"/>
              <a:t> The same subproblems are solved repeatedly during the course of the algorithm.</a:t>
            </a:r>
          </a:p>
          <a:p>
            <a:pPr algn="just">
              <a:buNone/>
            </a:pPr>
            <a:r>
              <a:rPr lang="en-US" dirty="0"/>
              <a:t>	DP avoids redundant computations by storing the results of subproblems in a table (or array) and looking them up when needed. This approach is more efficient than a naive recursive solution, which would recalculate the same subproblems over and over.</a:t>
            </a:r>
          </a:p>
        </p:txBody>
      </p:sp>
      <p:sp>
        <p:nvSpPr>
          <p:cNvPr id="7" name="Date Placeholder 6">
            <a:extLst>
              <a:ext uri="{FF2B5EF4-FFF2-40B4-BE49-F238E27FC236}">
                <a16:creationId xmlns:a16="http://schemas.microsoft.com/office/drawing/2014/main" id="{338546E7-7AAE-DB98-5E6B-AF9BDFBBC815}"/>
              </a:ext>
            </a:extLst>
          </p:cNvPr>
          <p:cNvSpPr>
            <a:spLocks noGrp="1"/>
          </p:cNvSpPr>
          <p:nvPr>
            <p:ph type="dt" sz="half" idx="10"/>
          </p:nvPr>
        </p:nvSpPr>
        <p:spPr/>
        <p:txBody>
          <a:bodyPr/>
          <a:lstStyle/>
          <a:p>
            <a:fld id="{EB2EB7EE-681A-4D63-839B-E8B6CE8455D7}" type="datetime1">
              <a:rPr lang="en-US" smtClean="0"/>
              <a:t>9/22/2026</a:t>
            </a:fld>
            <a:endParaRPr lang="en-US"/>
          </a:p>
        </p:txBody>
      </p:sp>
      <p:sp>
        <p:nvSpPr>
          <p:cNvPr id="8" name="Footer Placeholder 7">
            <a:extLst>
              <a:ext uri="{FF2B5EF4-FFF2-40B4-BE49-F238E27FC236}">
                <a16:creationId xmlns:a16="http://schemas.microsoft.com/office/drawing/2014/main" id="{4544CE2B-1CDE-B879-36B8-383E0370B887}"/>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60F2B7FC-8B99-B876-B5ED-895EB5077103}"/>
              </a:ext>
            </a:extLst>
          </p:cNvPr>
          <p:cNvSpPr>
            <a:spLocks noGrp="1"/>
          </p:cNvSpPr>
          <p:nvPr>
            <p:ph type="sldNum" sz="quarter" idx="12"/>
          </p:nvPr>
        </p:nvSpPr>
        <p:spPr/>
        <p:txBody>
          <a:bodyPr/>
          <a:lstStyle/>
          <a:p>
            <a:fld id="{099CF9D6-C8DD-42B2-8F38-039A05793DC1}" type="slidenum">
              <a:rPr lang="en-US" smtClean="0"/>
              <a:t>3</a:t>
            </a:fld>
            <a:endParaRPr lang="en-US"/>
          </a:p>
        </p:txBody>
      </p:sp>
    </p:spTree>
    <p:extLst>
      <p:ext uri="{BB962C8B-B14F-4D97-AF65-F5344CB8AC3E}">
        <p14:creationId xmlns:p14="http://schemas.microsoft.com/office/powerpoint/2010/main" val="158962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56C8A-5EA8-A947-C1D4-EDF0D6F4EAA2}"/>
              </a:ext>
            </a:extLst>
          </p:cNvPr>
          <p:cNvSpPr>
            <a:spLocks noGrp="1"/>
          </p:cNvSpPr>
          <p:nvPr>
            <p:ph type="title"/>
          </p:nvPr>
        </p:nvSpPr>
        <p:spPr>
          <a:xfrm>
            <a:off x="838200" y="365126"/>
            <a:ext cx="10515600" cy="780854"/>
          </a:xfrm>
        </p:spPr>
        <p:txBody>
          <a:bodyPr>
            <a:normAutofit/>
          </a:bodyPr>
          <a:lstStyle/>
          <a:p>
            <a:pPr algn="ctr">
              <a:lnSpc>
                <a:spcPct val="100000"/>
              </a:lnSpc>
            </a:pPr>
            <a:r>
              <a:rPr lang="en-US" dirty="0"/>
              <a:t>Matrix Chain Multiplication</a:t>
            </a:r>
          </a:p>
        </p:txBody>
      </p:sp>
      <p:sp>
        <p:nvSpPr>
          <p:cNvPr id="3" name="Content Placeholder 2">
            <a:extLst>
              <a:ext uri="{FF2B5EF4-FFF2-40B4-BE49-F238E27FC236}">
                <a16:creationId xmlns:a16="http://schemas.microsoft.com/office/drawing/2014/main" id="{0FC9A8A2-E19F-A3B3-F4EB-1E6E0683311E}"/>
              </a:ext>
            </a:extLst>
          </p:cNvPr>
          <p:cNvSpPr>
            <a:spLocks noGrp="1"/>
          </p:cNvSpPr>
          <p:nvPr>
            <p:ph idx="1"/>
          </p:nvPr>
        </p:nvSpPr>
        <p:spPr>
          <a:xfrm>
            <a:off x="838200" y="1145980"/>
            <a:ext cx="10515600" cy="5030983"/>
          </a:xfrm>
        </p:spPr>
        <p:txBody>
          <a:bodyPr>
            <a:normAutofit/>
          </a:bodyPr>
          <a:lstStyle/>
          <a:p>
            <a:pPr algn="just">
              <a:buNone/>
            </a:pPr>
            <a:r>
              <a:rPr lang="en-US" b="1" dirty="0"/>
              <a:t>Problem:</a:t>
            </a:r>
            <a:r>
              <a:rPr lang="en-US" dirty="0"/>
              <a:t> Given a sequence of matrices, find the most efficient way to multiply them. The efficiency is determined by the total number of scalar multiplications. Matrix multiplication is associative, meaning the order of operations can be changed without affecting the final product. For example, to multiply matrices A, B, and C, you could do (A × B) × C or A × (B × C).</a:t>
            </a:r>
          </a:p>
          <a:p>
            <a:pPr algn="just">
              <a:buNone/>
            </a:pPr>
            <a:r>
              <a:rPr lang="en-US" b="1" dirty="0"/>
              <a:t>Explanation:</a:t>
            </a:r>
            <a:r>
              <a:rPr lang="en-US" dirty="0"/>
              <a:t> The DP approach for this problem involves finding the optimal parenthesization. A key observation is that the last multiplication splits the chain of matrices into two sub-chains. We can find the optimal solution by trying all possible split points.</a:t>
            </a:r>
          </a:p>
        </p:txBody>
      </p:sp>
      <p:sp>
        <p:nvSpPr>
          <p:cNvPr id="7" name="Date Placeholder 6">
            <a:extLst>
              <a:ext uri="{FF2B5EF4-FFF2-40B4-BE49-F238E27FC236}">
                <a16:creationId xmlns:a16="http://schemas.microsoft.com/office/drawing/2014/main" id="{77592421-581A-9C24-714E-225438D84D3B}"/>
              </a:ext>
            </a:extLst>
          </p:cNvPr>
          <p:cNvSpPr>
            <a:spLocks noGrp="1"/>
          </p:cNvSpPr>
          <p:nvPr>
            <p:ph type="dt" sz="half" idx="10"/>
          </p:nvPr>
        </p:nvSpPr>
        <p:spPr/>
        <p:txBody>
          <a:bodyPr/>
          <a:lstStyle/>
          <a:p>
            <a:fld id="{2C088F52-0B5B-4351-BE92-197CBBE595CA}" type="datetime1">
              <a:rPr lang="en-US" smtClean="0"/>
              <a:t>9/22/2026</a:t>
            </a:fld>
            <a:endParaRPr lang="en-US"/>
          </a:p>
        </p:txBody>
      </p:sp>
      <p:sp>
        <p:nvSpPr>
          <p:cNvPr id="8" name="Footer Placeholder 7">
            <a:extLst>
              <a:ext uri="{FF2B5EF4-FFF2-40B4-BE49-F238E27FC236}">
                <a16:creationId xmlns:a16="http://schemas.microsoft.com/office/drawing/2014/main" id="{2EBC28A9-EFBE-E1A4-0167-E3BE94AF5D1C}"/>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CF465E45-4AA6-F0FC-B941-F13750763137}"/>
              </a:ext>
            </a:extLst>
          </p:cNvPr>
          <p:cNvSpPr>
            <a:spLocks noGrp="1"/>
          </p:cNvSpPr>
          <p:nvPr>
            <p:ph type="sldNum" sz="quarter" idx="12"/>
          </p:nvPr>
        </p:nvSpPr>
        <p:spPr/>
        <p:txBody>
          <a:bodyPr/>
          <a:lstStyle/>
          <a:p>
            <a:fld id="{099CF9D6-C8DD-42B2-8F38-039A05793DC1}" type="slidenum">
              <a:rPr lang="en-US" smtClean="0"/>
              <a:t>4</a:t>
            </a:fld>
            <a:endParaRPr lang="en-US"/>
          </a:p>
        </p:txBody>
      </p:sp>
    </p:spTree>
    <p:extLst>
      <p:ext uri="{BB962C8B-B14F-4D97-AF65-F5344CB8AC3E}">
        <p14:creationId xmlns:p14="http://schemas.microsoft.com/office/powerpoint/2010/main" val="108441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41C3-2E05-6AAB-B368-0ADE5FBE2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87C277-0378-6403-28B1-FAD692F9DB99}"/>
              </a:ext>
            </a:extLst>
          </p:cNvPr>
          <p:cNvSpPr>
            <a:spLocks noGrp="1"/>
          </p:cNvSpPr>
          <p:nvPr>
            <p:ph type="title"/>
          </p:nvPr>
        </p:nvSpPr>
        <p:spPr>
          <a:xfrm>
            <a:off x="838200" y="365126"/>
            <a:ext cx="10515600" cy="780854"/>
          </a:xfrm>
        </p:spPr>
        <p:txBody>
          <a:bodyPr>
            <a:normAutofit/>
          </a:bodyPr>
          <a:lstStyle/>
          <a:p>
            <a:pPr algn="ctr">
              <a:lnSpc>
                <a:spcPct val="100000"/>
              </a:lnSpc>
            </a:pPr>
            <a:r>
              <a:rPr lang="en-US" dirty="0"/>
              <a:t>Matrix Chain Multiplication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F43607-95BA-67AF-1924-6797117AE7C5}"/>
                  </a:ext>
                </a:extLst>
              </p:cNvPr>
              <p:cNvSpPr>
                <a:spLocks noGrp="1"/>
              </p:cNvSpPr>
              <p:nvPr>
                <p:ph idx="1"/>
              </p:nvPr>
            </p:nvSpPr>
            <p:spPr>
              <a:xfrm>
                <a:off x="838200" y="1145980"/>
                <a:ext cx="10515600" cy="5030983"/>
              </a:xfrm>
            </p:spPr>
            <p:txBody>
              <a:bodyPr>
                <a:normAutofit fontScale="92500" lnSpcReduction="20000"/>
              </a:bodyPr>
              <a:lstStyle/>
              <a:p>
                <a:pPr algn="just">
                  <a:buNone/>
                </a:pPr>
                <a:r>
                  <a:rPr lang="en-US" dirty="0"/>
                  <a:t>Algorithm: </a:t>
                </a:r>
              </a:p>
              <a:p>
                <a:pPr marL="514350" indent="-514350" algn="just">
                  <a:buAutoNum type="arabicPeriod"/>
                </a:pPr>
                <a:r>
                  <a:rPr lang="en-US" dirty="0"/>
                  <a:t>Let a sequence of n matrices be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1</m:t>
                        </m:r>
                      </m:sub>
                    </m:sSub>
                    <m:r>
                      <a:rPr lang="en-US" i="1" dirty="0" smtClean="0">
                        <a:latin typeface="Cambria Math" panose="02040503050406030204" pitchFamily="18" charset="0"/>
                      </a:rPr>
                      <m:t>,</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𝑛</m:t>
                        </m:r>
                      </m:sub>
                    </m:sSub>
                  </m:oMath>
                </a14:m>
                <a:r>
                  <a:rPr lang="en-US" dirty="0"/>
                  <a:t>.</a:t>
                </a:r>
              </a:p>
              <a:p>
                <a:pPr marL="514350" indent="-514350" algn="just">
                  <a:buAutoNum type="arabicPeriod"/>
                </a:pPr>
                <a:r>
                  <a:rPr lang="en-US" dirty="0"/>
                  <a:t>Let M[</a:t>
                </a:r>
                <a:r>
                  <a:rPr lang="en-US" dirty="0" err="1"/>
                  <a:t>i,j</a:t>
                </a:r>
                <a:r>
                  <a:rPr lang="en-US" dirty="0"/>
                  <a:t>] be the minimum number of multiplications to compute the product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𝑖</m:t>
                        </m:r>
                        <m:r>
                          <a:rPr lang="en-US" b="0"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𝑗</m:t>
                        </m:r>
                      </m:sub>
                    </m:sSub>
                  </m:oMath>
                </a14:m>
                <a:r>
                  <a:rPr lang="en-US" dirty="0"/>
                  <a:t>.</a:t>
                </a:r>
              </a:p>
              <a:p>
                <a:pPr marL="514350" indent="-514350" algn="just">
                  <a:buAutoNum type="arabicPeriod"/>
                </a:pPr>
                <a:r>
                  <a:rPr lang="en-US" dirty="0"/>
                  <a:t>The recurrence relation is:</a:t>
                </a:r>
              </a:p>
              <a:p>
                <a:pPr marL="0" indent="0" algn="just">
                  <a:buNone/>
                </a:pPr>
                <a:r>
                  <a:rPr lang="en-US" dirty="0"/>
                  <a:t>	M[</a:t>
                </a:r>
                <a:r>
                  <a:rPr lang="en-US" dirty="0" err="1"/>
                  <a:t>i,j</a:t>
                </a:r>
                <a:r>
                  <a:rPr lang="en-US" dirty="0"/>
                  <a: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𝑚𝑖𝑛</m:t>
                        </m:r>
                      </m:e>
                      <m:sub>
                        <m:r>
                          <m:rPr>
                            <m:nor/>
                          </m:rPr>
                          <a:rPr lang="en-US" i="0" dirty="0">
                            <a:solidFill>
                              <a:prstClr val="black"/>
                            </a:solidFill>
                          </a:rPr>
                          <m:t>i≤k&lt;j</m:t>
                        </m:r>
                      </m:sub>
                    </m:sSub>
                  </m:oMath>
                </a14:m>
                <a:r>
                  <a:rPr lang="en-US" dirty="0"/>
                  <a:t>{M[</a:t>
                </a:r>
                <a:r>
                  <a:rPr lang="en-US" dirty="0" err="1"/>
                  <a:t>i,k</a:t>
                </a:r>
                <a:r>
                  <a:rPr lang="en-US" dirty="0"/>
                  <a:t>]+M[k+1,j]+</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𝑗</m:t>
                        </m:r>
                      </m:sub>
                    </m:sSub>
                  </m:oMath>
                </a14:m>
                <a:r>
                  <a:rPr lang="en-US" dirty="0"/>
                  <a:t>}</a:t>
                </a:r>
              </a:p>
              <a:p>
                <a:pPr lvl="1" algn="just"/>
                <a:r>
                  <a:rPr lang="en-US" dirty="0"/>
                  <a:t>M[</a:t>
                </a:r>
                <a:r>
                  <a:rPr lang="en-US" dirty="0" err="1"/>
                  <a:t>i,k</a:t>
                </a:r>
                <a:r>
                  <a:rPr lang="en-US" dirty="0"/>
                  <a:t>] is the cost to multiply matrices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𝑘</m:t>
                        </m:r>
                      </m:sub>
                    </m:sSub>
                  </m:oMath>
                </a14:m>
                <a:r>
                  <a:rPr lang="en-US" dirty="0"/>
                  <a:t>.</a:t>
                </a:r>
              </a:p>
              <a:p>
                <a:pPr lvl="1" algn="just"/>
                <a:r>
                  <a:rPr lang="en-US" dirty="0"/>
                  <a:t>M[k+1,j] is the cost to multiply matrices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𝑘</m:t>
                        </m:r>
                        <m:r>
                          <a:rPr lang="en-US" b="0" i="1" smtClean="0">
                            <a:latin typeface="Cambria Math" panose="02040503050406030204" pitchFamily="18" charset="0"/>
                          </a:rPr>
                          <m:t>+1</m:t>
                        </m:r>
                      </m:sub>
                    </m:sSub>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r>
                  <a:rPr lang="en-US" dirty="0"/>
                  <a:t>.</a:t>
                </a:r>
              </a:p>
              <a:p>
                <a:pPr lvl="1" algn="just"/>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𝑗</m:t>
                        </m:r>
                      </m:sub>
                    </m:sSub>
                  </m:oMath>
                </a14:m>
                <a:r>
                  <a:rPr lang="en-US" dirty="0"/>
                  <a:t> is the cost of the final multiplication of the two resulting matrices.</a:t>
                </a:r>
              </a:p>
              <a:p>
                <a:pPr marL="514350" indent="-514350" algn="just">
                  <a:buFont typeface="+mj-lt"/>
                  <a:buAutoNum type="arabicPeriod" startAt="4"/>
                </a:pPr>
                <a:r>
                  <a:rPr lang="en-US" dirty="0"/>
                  <a:t>The base case is M[</a:t>
                </a:r>
                <a:r>
                  <a:rPr lang="en-US" dirty="0" err="1"/>
                  <a:t>i,i</a:t>
                </a:r>
                <a:r>
                  <a:rPr lang="en-US" dirty="0"/>
                  <a:t>]=0 (cost to multiply a single matrix is zero).</a:t>
                </a:r>
              </a:p>
              <a:p>
                <a:pPr marL="514350" indent="-514350" algn="just">
                  <a:buFont typeface="+mj-lt"/>
                  <a:buAutoNum type="arabicPeriod" startAt="4"/>
                </a:pPr>
                <a:r>
                  <a:rPr lang="en-US" dirty="0"/>
                  <a:t>The algorithm fills a table M in a bottom-up fashion, starting with chains of length 2, then 3, and so on, until the full chain of length n is computed.</a:t>
                </a:r>
              </a:p>
            </p:txBody>
          </p:sp>
        </mc:Choice>
        <mc:Fallback xmlns="">
          <p:sp>
            <p:nvSpPr>
              <p:cNvPr id="3" name="Content Placeholder 2">
                <a:extLst>
                  <a:ext uri="{FF2B5EF4-FFF2-40B4-BE49-F238E27FC236}">
                    <a16:creationId xmlns:a16="http://schemas.microsoft.com/office/drawing/2014/main" id="{36F43607-95BA-67AF-1924-6797117AE7C5}"/>
                  </a:ext>
                </a:extLst>
              </p:cNvPr>
              <p:cNvSpPr>
                <a:spLocks noGrp="1" noRot="1" noChangeAspect="1" noMove="1" noResize="1" noEditPoints="1" noAdjustHandles="1" noChangeArrowheads="1" noChangeShapeType="1" noTextEdit="1"/>
              </p:cNvSpPr>
              <p:nvPr>
                <p:ph idx="1"/>
              </p:nvPr>
            </p:nvSpPr>
            <p:spPr>
              <a:xfrm>
                <a:off x="838200" y="1145980"/>
                <a:ext cx="10515600" cy="5030983"/>
              </a:xfrm>
              <a:blipFill>
                <a:blip r:embed="rId2"/>
                <a:stretch>
                  <a:fillRect l="-1101" t="-3030" r="-986"/>
                </a:stretch>
              </a:blipFill>
            </p:spPr>
            <p:txBody>
              <a:bodyPr/>
              <a:lstStyle/>
              <a:p>
                <a:r>
                  <a:rPr lang="en-US">
                    <a:noFill/>
                  </a:rPr>
                  <a:t> </a:t>
                </a:r>
              </a:p>
            </p:txBody>
          </p:sp>
        </mc:Fallback>
      </mc:AlternateContent>
      <p:sp>
        <p:nvSpPr>
          <p:cNvPr id="7" name="Date Placeholder 6">
            <a:extLst>
              <a:ext uri="{FF2B5EF4-FFF2-40B4-BE49-F238E27FC236}">
                <a16:creationId xmlns:a16="http://schemas.microsoft.com/office/drawing/2014/main" id="{9147FC09-9637-7758-5458-FB1DEAD83528}"/>
              </a:ext>
            </a:extLst>
          </p:cNvPr>
          <p:cNvSpPr>
            <a:spLocks noGrp="1"/>
          </p:cNvSpPr>
          <p:nvPr>
            <p:ph type="dt" sz="half" idx="10"/>
          </p:nvPr>
        </p:nvSpPr>
        <p:spPr/>
        <p:txBody>
          <a:bodyPr/>
          <a:lstStyle/>
          <a:p>
            <a:fld id="{2C088F52-0B5B-4351-BE92-197CBBE595CA}" type="datetime1">
              <a:rPr lang="en-US" smtClean="0"/>
              <a:t>9/22/2026</a:t>
            </a:fld>
            <a:endParaRPr lang="en-US"/>
          </a:p>
        </p:txBody>
      </p:sp>
      <p:sp>
        <p:nvSpPr>
          <p:cNvPr id="8" name="Footer Placeholder 7">
            <a:extLst>
              <a:ext uri="{FF2B5EF4-FFF2-40B4-BE49-F238E27FC236}">
                <a16:creationId xmlns:a16="http://schemas.microsoft.com/office/drawing/2014/main" id="{A60E38EE-010C-0035-D967-5A6DB18D8EBB}"/>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07C9528D-5996-A359-5074-CD6B658073A2}"/>
              </a:ext>
            </a:extLst>
          </p:cNvPr>
          <p:cNvSpPr>
            <a:spLocks noGrp="1"/>
          </p:cNvSpPr>
          <p:nvPr>
            <p:ph type="sldNum" sz="quarter" idx="12"/>
          </p:nvPr>
        </p:nvSpPr>
        <p:spPr/>
        <p:txBody>
          <a:bodyPr/>
          <a:lstStyle/>
          <a:p>
            <a:fld id="{099CF9D6-C8DD-42B2-8F38-039A05793DC1}" type="slidenum">
              <a:rPr lang="en-US" smtClean="0"/>
              <a:t>5</a:t>
            </a:fld>
            <a:endParaRPr lang="en-US"/>
          </a:p>
        </p:txBody>
      </p:sp>
    </p:spTree>
    <p:extLst>
      <p:ext uri="{BB962C8B-B14F-4D97-AF65-F5344CB8AC3E}">
        <p14:creationId xmlns:p14="http://schemas.microsoft.com/office/powerpoint/2010/main" val="349378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04CA6-5FDE-7739-DCBA-7E9E490B1567}"/>
              </a:ext>
            </a:extLst>
          </p:cNvPr>
          <p:cNvSpPr>
            <a:spLocks noGrp="1"/>
          </p:cNvSpPr>
          <p:nvPr>
            <p:ph type="title"/>
          </p:nvPr>
        </p:nvSpPr>
        <p:spPr>
          <a:xfrm>
            <a:off x="838200" y="136525"/>
            <a:ext cx="10515600" cy="631467"/>
          </a:xfrm>
        </p:spPr>
        <p:txBody>
          <a:bodyPr>
            <a:normAutofit fontScale="90000"/>
          </a:bodyPr>
          <a:lstStyle/>
          <a:p>
            <a:pPr algn="ctr"/>
            <a:r>
              <a:rPr lang="en-US" b="1" dirty="0"/>
              <a:t>Example: Matrix Chain Multiplication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A1E076-2AD2-91C1-02D5-E28739D84522}"/>
                  </a:ext>
                </a:extLst>
              </p:cNvPr>
              <p:cNvSpPr>
                <a:spLocks noGrp="1"/>
              </p:cNvSpPr>
              <p:nvPr>
                <p:ph idx="1"/>
              </p:nvPr>
            </p:nvSpPr>
            <p:spPr>
              <a:xfrm>
                <a:off x="688369" y="873303"/>
                <a:ext cx="10665431" cy="5332288"/>
              </a:xfrm>
            </p:spPr>
            <p:txBody>
              <a:bodyPr>
                <a:noAutofit/>
              </a:bodyPr>
              <a:lstStyle/>
              <a:p>
                <a:pPr>
                  <a:buFont typeface="Arial" panose="020B0604020202020204" pitchFamily="34" charset="0"/>
                  <a:buChar char="•"/>
                </a:pPr>
                <a:r>
                  <a:rPr lang="en-US" sz="2000" b="1" dirty="0"/>
                  <a:t>Matrices:</a:t>
                </a:r>
                <a:r>
                  <a:rPr lang="en-US" sz="2000"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𝐴</m:t>
                        </m:r>
                      </m:e>
                      <m:sub>
                        <m:r>
                          <a:rPr lang="en-US" sz="2000" b="0" i="1" dirty="0" smtClean="0">
                            <a:latin typeface="Cambria Math" panose="02040503050406030204" pitchFamily="18" charset="0"/>
                          </a:rPr>
                          <m:t>1</m:t>
                        </m:r>
                      </m:sub>
                    </m:sSub>
                  </m:oMath>
                </a14:m>
                <a:r>
                  <a:rPr lang="en-US" sz="2000" dirty="0"/>
                  <a:t>​(10×30),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oMath>
                </a14:m>
                <a:r>
                  <a:rPr lang="en-US" sz="2000" dirty="0"/>
                  <a:t>​(30×5),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3</m:t>
                        </m:r>
                      </m:sub>
                    </m:sSub>
                  </m:oMath>
                </a14:m>
                <a:r>
                  <a:rPr lang="en-US" sz="2000" dirty="0"/>
                  <a:t>​(5×60).</a:t>
                </a:r>
              </a:p>
              <a:p>
                <a:pPr>
                  <a:buFont typeface="Arial" panose="020B0604020202020204" pitchFamily="34" charset="0"/>
                  <a:buChar char="•"/>
                </a:pPr>
                <a:r>
                  <a:rPr lang="en-US" sz="2000" b="1" dirty="0"/>
                  <a:t>Dimensions:</a:t>
                </a:r>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0</m:t>
                        </m:r>
                      </m:sub>
                    </m:sSub>
                  </m:oMath>
                </a14:m>
                <a:r>
                  <a:rPr lang="en-US" sz="2000" dirty="0"/>
                  <a:t>​=10,</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oMath>
                </a14:m>
                <a:r>
                  <a:rPr lang="en-US" sz="2000" dirty="0"/>
                  <a:t>​=30,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oMath>
                </a14:m>
                <a:r>
                  <a:rPr lang="en-US" sz="2000" dirty="0"/>
                  <a:t>​=5,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3</m:t>
                        </m:r>
                      </m:sub>
                    </m:sSub>
                  </m:oMath>
                </a14:m>
                <a:r>
                  <a:rPr lang="en-US" sz="2000" dirty="0"/>
                  <a:t>​=60.</a:t>
                </a:r>
              </a:p>
              <a:p>
                <a:r>
                  <a:rPr lang="en-US" sz="2000" b="1" dirty="0"/>
                  <a:t>Goal:</a:t>
                </a:r>
                <a:r>
                  <a:rPr lang="en-US" sz="2000" dirty="0"/>
                  <a:t> Find the minimum cost to compute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𝐴</m:t>
                        </m:r>
                      </m:e>
                      <m:sub>
                        <m:r>
                          <a:rPr lang="en-US" sz="2000" i="1" dirty="0">
                            <a:latin typeface="Cambria Math" panose="02040503050406030204" pitchFamily="18" charset="0"/>
                          </a:rPr>
                          <m:t>1</m:t>
                        </m:r>
                      </m:sub>
                    </m:sSub>
                    <m:r>
                      <a:rPr lang="en-US" sz="2000" i="1" dirty="0">
                        <a:latin typeface="Cambria Math" panose="02040503050406030204" pitchFamily="18" charset="0"/>
                      </a:rPr>
                      <m:t> </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 </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3</m:t>
                        </m:r>
                      </m:sub>
                    </m:sSub>
                    <m:r>
                      <a:rPr lang="en-US" sz="2000" i="1">
                        <a:latin typeface="Cambria Math" panose="02040503050406030204" pitchFamily="18" charset="0"/>
                      </a:rPr>
                      <m:t> </m:t>
                    </m:r>
                  </m:oMath>
                </a14:m>
                <a:r>
                  <a:rPr lang="en-US" sz="2000" dirty="0"/>
                  <a:t>​.</a:t>
                </a:r>
              </a:p>
              <a:p>
                <a:pPr>
                  <a:buNone/>
                </a:pPr>
                <a:r>
                  <a:rPr lang="en-US" sz="2000" b="1" dirty="0"/>
                  <a:t>Solution:</a:t>
                </a:r>
                <a:endParaRPr lang="en-US" sz="2000" dirty="0"/>
              </a:p>
              <a:p>
                <a:pPr>
                  <a:buFont typeface="Arial" panose="020B0604020202020204" pitchFamily="34" charset="0"/>
                  <a:buChar char="•"/>
                </a:pPr>
                <a:r>
                  <a:rPr lang="en-US" sz="2000" b="1" dirty="0"/>
                  <a:t>Possible Parenthesization:</a:t>
                </a:r>
                <a:endParaRPr lang="en-US" sz="2000" dirty="0"/>
              </a:p>
              <a:p>
                <a:pPr marL="742950" lvl="1" indent="-285750"/>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𝐴</m:t>
                        </m:r>
                      </m:e>
                      <m:sub>
                        <m:r>
                          <a:rPr lang="en-US" sz="2000" i="1" dirty="0">
                            <a:latin typeface="Cambria Math" panose="02040503050406030204" pitchFamily="18" charset="0"/>
                          </a:rPr>
                          <m:t>1</m:t>
                        </m:r>
                      </m:sub>
                    </m:sSub>
                    <m:r>
                      <a:rPr lang="en-US" sz="2000" i="1" dirty="0">
                        <a:latin typeface="Cambria Math" panose="02040503050406030204" pitchFamily="18" charset="0"/>
                      </a:rPr>
                      <m:t> </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3</m:t>
                        </m:r>
                      </m:sub>
                    </m:sSub>
                    <m:r>
                      <a:rPr lang="en-US" sz="2000" i="1">
                        <a:latin typeface="Cambria Math" panose="02040503050406030204" pitchFamily="18" charset="0"/>
                      </a:rPr>
                      <m:t> </m:t>
                    </m:r>
                  </m:oMath>
                </a14:m>
                <a:r>
                  <a:rPr lang="en-US" sz="2000" dirty="0"/>
                  <a:t>​:</a:t>
                </a:r>
              </a:p>
              <a:p>
                <a:pPr lvl="2"/>
                <a:r>
                  <a:rPr lang="en-US" dirty="0"/>
                  <a:t>Cost of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1</m:t>
                        </m:r>
                      </m:sub>
                    </m:sSub>
                    <m:r>
                      <a:rPr lang="en-US" i="1" dirty="0">
                        <a:latin typeface="Cambria Math" panose="02040503050406030204" pitchFamily="18" charset="0"/>
                      </a:rPr>
                      <m:t> </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2</m:t>
                        </m:r>
                      </m:sub>
                    </m:sSub>
                  </m:oMath>
                </a14:m>
                <a:r>
                  <a:rPr lang="en-US" dirty="0"/>
                  <a:t>​)=(10×30×5)=1500. Result is a 10×5 matrix.</a:t>
                </a:r>
              </a:p>
              <a:p>
                <a:pPr lvl="2"/>
                <a:r>
                  <a:rPr lang="en-US" dirty="0"/>
                  <a:t>Cost of (10×5)×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3</m:t>
                        </m:r>
                      </m:sub>
                    </m:sSub>
                    <m:r>
                      <a:rPr lang="en-US" i="1">
                        <a:latin typeface="Cambria Math" panose="02040503050406030204" pitchFamily="18" charset="0"/>
                      </a:rPr>
                      <m:t> </m:t>
                    </m:r>
                  </m:oMath>
                </a14:m>
                <a:r>
                  <a:rPr lang="en-US" dirty="0"/>
                  <a:t>​=(10×5×60)=3000.</a:t>
                </a:r>
              </a:p>
              <a:p>
                <a:pPr marL="1143000" lvl="2" indent="-228600">
                  <a:buFont typeface="Arial" panose="020B0604020202020204" pitchFamily="34" charset="0"/>
                  <a:buChar char="•"/>
                </a:pPr>
                <a:r>
                  <a:rPr lang="en-US" b="1" dirty="0"/>
                  <a:t>Total Cost:</a:t>
                </a:r>
                <a:r>
                  <a:rPr lang="en-US" dirty="0"/>
                  <a:t> 1500+3000=4500.</a:t>
                </a:r>
              </a:p>
              <a:p>
                <a:pPr marL="742950" lvl="1" indent="-285750"/>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𝐴</m:t>
                        </m:r>
                      </m:e>
                      <m:sub>
                        <m:r>
                          <a:rPr lang="en-US" sz="2000" i="1" dirty="0">
                            <a:latin typeface="Cambria Math" panose="02040503050406030204" pitchFamily="18" charset="0"/>
                          </a:rPr>
                          <m:t>1</m:t>
                        </m:r>
                      </m:sub>
                    </m:sSub>
                    <m:r>
                      <a:rPr lang="en-US" sz="2000" i="1" dirty="0">
                        <a:latin typeface="Cambria Math" panose="02040503050406030204" pitchFamily="18" charset="0"/>
                      </a:rPr>
                      <m:t> </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 </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3</m:t>
                        </m:r>
                      </m:sub>
                    </m:sSub>
                    <m:r>
                      <a:rPr lang="en-US" sz="2000" b="0" i="1" smtClean="0">
                        <a:latin typeface="Cambria Math" panose="02040503050406030204" pitchFamily="18" charset="0"/>
                      </a:rPr>
                      <m:t>)</m:t>
                    </m:r>
                    <m:r>
                      <a:rPr lang="en-US" sz="2000" i="1">
                        <a:latin typeface="Cambria Math" panose="02040503050406030204" pitchFamily="18" charset="0"/>
                      </a:rPr>
                      <m:t> </m:t>
                    </m:r>
                  </m:oMath>
                </a14:m>
                <a:r>
                  <a:rPr lang="en-US" sz="2000" dirty="0"/>
                  <a:t>:</a:t>
                </a:r>
              </a:p>
              <a:p>
                <a:pPr lvl="2"/>
                <a:r>
                  <a:rPr lang="en-US" dirty="0"/>
                  <a:t>Cost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2</m:t>
                        </m:r>
                      </m:sub>
                    </m:sSub>
                    <m:r>
                      <a:rPr lang="en-US" i="1">
                        <a:latin typeface="Cambria Math" panose="02040503050406030204" pitchFamily="18" charset="0"/>
                      </a:rPr>
                      <m:t> </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3</m:t>
                        </m:r>
                      </m:sub>
                    </m:sSub>
                  </m:oMath>
                </a14:m>
                <a:r>
                  <a:rPr lang="en-US" dirty="0"/>
                  <a:t>)=(30×5×60)=9000. Result is a 30×60 matrix.</a:t>
                </a:r>
              </a:p>
              <a:p>
                <a:pPr lvl="2"/>
                <a:r>
                  <a:rPr lang="en-US" dirty="0"/>
                  <a:t>Cost of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1</m:t>
                        </m:r>
                      </m:sub>
                    </m:sSub>
                    <m:r>
                      <a:rPr lang="en-US" i="1" dirty="0">
                        <a:latin typeface="Cambria Math" panose="02040503050406030204" pitchFamily="18" charset="0"/>
                      </a:rPr>
                      <m:t> </m:t>
                    </m:r>
                  </m:oMath>
                </a14:m>
                <a:r>
                  <a:rPr lang="en-US" dirty="0"/>
                  <a:t>​×(30×60)=(10×30×60)=18000.</a:t>
                </a:r>
              </a:p>
              <a:p>
                <a:pPr marL="1143000" lvl="2" indent="-228600">
                  <a:buFont typeface="Arial" panose="020B0604020202020204" pitchFamily="34" charset="0"/>
                  <a:buChar char="•"/>
                </a:pPr>
                <a:r>
                  <a:rPr lang="en-US" b="1" dirty="0"/>
                  <a:t>Total Cost:</a:t>
                </a:r>
                <a:r>
                  <a:rPr lang="en-US" dirty="0"/>
                  <a:t> 9000+18000=27000.</a:t>
                </a:r>
              </a:p>
              <a:p>
                <a:pPr>
                  <a:buNone/>
                </a:pPr>
                <a:r>
                  <a:rPr lang="en-US" sz="2000" dirty="0"/>
                  <a:t>The minimum cost is 4500. A DP algorithm would compute this systematically.</a:t>
                </a:r>
              </a:p>
              <a:p>
                <a:pPr marL="0" indent="0">
                  <a:buNone/>
                </a:pPr>
                <a:endParaRPr lang="en-US" sz="1600" dirty="0"/>
              </a:p>
            </p:txBody>
          </p:sp>
        </mc:Choice>
        <mc:Fallback xmlns="">
          <p:sp>
            <p:nvSpPr>
              <p:cNvPr id="3" name="Content Placeholder 2">
                <a:extLst>
                  <a:ext uri="{FF2B5EF4-FFF2-40B4-BE49-F238E27FC236}">
                    <a16:creationId xmlns:a16="http://schemas.microsoft.com/office/drawing/2014/main" id="{DEA1E076-2AD2-91C1-02D5-E28739D84522}"/>
                  </a:ext>
                </a:extLst>
              </p:cNvPr>
              <p:cNvSpPr>
                <a:spLocks noGrp="1" noRot="1" noChangeAspect="1" noMove="1" noResize="1" noEditPoints="1" noAdjustHandles="1" noChangeArrowheads="1" noChangeShapeType="1" noTextEdit="1"/>
              </p:cNvSpPr>
              <p:nvPr>
                <p:ph idx="1"/>
              </p:nvPr>
            </p:nvSpPr>
            <p:spPr>
              <a:xfrm>
                <a:off x="688369" y="873303"/>
                <a:ext cx="10665431" cy="5332288"/>
              </a:xfrm>
              <a:blipFill>
                <a:blip r:embed="rId2"/>
                <a:stretch>
                  <a:fillRect l="-629" t="-1143"/>
                </a:stretch>
              </a:blipFill>
            </p:spPr>
            <p:txBody>
              <a:bodyPr/>
              <a:lstStyle/>
              <a:p>
                <a:r>
                  <a:rPr lang="en-US">
                    <a:noFill/>
                  </a:rPr>
                  <a:t> </a:t>
                </a:r>
              </a:p>
            </p:txBody>
          </p:sp>
        </mc:Fallback>
      </mc:AlternateContent>
      <p:sp>
        <p:nvSpPr>
          <p:cNvPr id="7" name="Date Placeholder 6">
            <a:extLst>
              <a:ext uri="{FF2B5EF4-FFF2-40B4-BE49-F238E27FC236}">
                <a16:creationId xmlns:a16="http://schemas.microsoft.com/office/drawing/2014/main" id="{6B2F6C42-07EE-FA5B-2DA0-FFA0E4CEADB4}"/>
              </a:ext>
            </a:extLst>
          </p:cNvPr>
          <p:cNvSpPr>
            <a:spLocks noGrp="1"/>
          </p:cNvSpPr>
          <p:nvPr>
            <p:ph type="dt" sz="half" idx="10"/>
          </p:nvPr>
        </p:nvSpPr>
        <p:spPr/>
        <p:txBody>
          <a:bodyPr/>
          <a:lstStyle/>
          <a:p>
            <a:fld id="{24B45ECB-80E3-4C65-B603-C34732BEA0EE}" type="datetime1">
              <a:rPr lang="en-US" smtClean="0"/>
              <a:t>9/22/2026</a:t>
            </a:fld>
            <a:endParaRPr lang="en-US"/>
          </a:p>
        </p:txBody>
      </p:sp>
      <p:sp>
        <p:nvSpPr>
          <p:cNvPr id="8" name="Footer Placeholder 7">
            <a:extLst>
              <a:ext uri="{FF2B5EF4-FFF2-40B4-BE49-F238E27FC236}">
                <a16:creationId xmlns:a16="http://schemas.microsoft.com/office/drawing/2014/main" id="{82B71558-A6D3-0B74-9096-E6916DD2DC0E}"/>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080896E1-087E-B424-3A3C-863E7989472E}"/>
              </a:ext>
            </a:extLst>
          </p:cNvPr>
          <p:cNvSpPr>
            <a:spLocks noGrp="1"/>
          </p:cNvSpPr>
          <p:nvPr>
            <p:ph type="sldNum" sz="quarter" idx="12"/>
          </p:nvPr>
        </p:nvSpPr>
        <p:spPr/>
        <p:txBody>
          <a:bodyPr/>
          <a:lstStyle/>
          <a:p>
            <a:fld id="{099CF9D6-C8DD-42B2-8F38-039A05793DC1}" type="slidenum">
              <a:rPr lang="en-US" smtClean="0"/>
              <a:t>6</a:t>
            </a:fld>
            <a:endParaRPr lang="en-US"/>
          </a:p>
        </p:txBody>
      </p:sp>
    </p:spTree>
    <p:extLst>
      <p:ext uri="{BB962C8B-B14F-4D97-AF65-F5344CB8AC3E}">
        <p14:creationId xmlns:p14="http://schemas.microsoft.com/office/powerpoint/2010/main" val="1344270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752AB-836B-5C6C-839D-F95775719299}"/>
              </a:ext>
            </a:extLst>
          </p:cNvPr>
          <p:cNvSpPr>
            <a:spLocks noGrp="1"/>
          </p:cNvSpPr>
          <p:nvPr>
            <p:ph type="title"/>
          </p:nvPr>
        </p:nvSpPr>
        <p:spPr>
          <a:xfrm>
            <a:off x="838200" y="365126"/>
            <a:ext cx="10515600" cy="621193"/>
          </a:xfrm>
        </p:spPr>
        <p:txBody>
          <a:bodyPr>
            <a:normAutofit fontScale="90000"/>
          </a:bodyPr>
          <a:lstStyle/>
          <a:p>
            <a:pPr algn="ctr"/>
            <a:r>
              <a:rPr lang="en-US" dirty="0"/>
              <a:t>All-Pairs Shortest Paths (Floyd-</a:t>
            </a:r>
            <a:r>
              <a:rPr lang="en-US" dirty="0" err="1"/>
              <a:t>Warshall</a:t>
            </a:r>
            <a:r>
              <a:rPr lang="en-US" dirty="0"/>
              <a:t> Algorithm)</a:t>
            </a:r>
          </a:p>
        </p:txBody>
      </p:sp>
      <p:sp>
        <p:nvSpPr>
          <p:cNvPr id="7" name="Date Placeholder 6">
            <a:extLst>
              <a:ext uri="{FF2B5EF4-FFF2-40B4-BE49-F238E27FC236}">
                <a16:creationId xmlns:a16="http://schemas.microsoft.com/office/drawing/2014/main" id="{C9A3DA1D-2322-02A2-9200-13207230E70D}"/>
              </a:ext>
            </a:extLst>
          </p:cNvPr>
          <p:cNvSpPr>
            <a:spLocks noGrp="1"/>
          </p:cNvSpPr>
          <p:nvPr>
            <p:ph type="dt" sz="half" idx="10"/>
          </p:nvPr>
        </p:nvSpPr>
        <p:spPr/>
        <p:txBody>
          <a:bodyPr/>
          <a:lstStyle/>
          <a:p>
            <a:fld id="{0E300A42-8C19-4814-90E1-D95F607D9329}" type="datetime1">
              <a:rPr lang="en-US" smtClean="0"/>
              <a:t>9/22/2026</a:t>
            </a:fld>
            <a:endParaRPr lang="en-US"/>
          </a:p>
        </p:txBody>
      </p:sp>
      <p:sp>
        <p:nvSpPr>
          <p:cNvPr id="8" name="Footer Placeholder 7">
            <a:extLst>
              <a:ext uri="{FF2B5EF4-FFF2-40B4-BE49-F238E27FC236}">
                <a16:creationId xmlns:a16="http://schemas.microsoft.com/office/drawing/2014/main" id="{CEEBE5AB-5EE0-B5E1-5274-84611431D8DF}"/>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C0AE49FE-ED40-05C5-2A1C-86AEAB284764}"/>
              </a:ext>
            </a:extLst>
          </p:cNvPr>
          <p:cNvSpPr>
            <a:spLocks noGrp="1"/>
          </p:cNvSpPr>
          <p:nvPr>
            <p:ph type="sldNum" sz="quarter" idx="12"/>
          </p:nvPr>
        </p:nvSpPr>
        <p:spPr/>
        <p:txBody>
          <a:bodyPr/>
          <a:lstStyle/>
          <a:p>
            <a:fld id="{099CF9D6-C8DD-42B2-8F38-039A05793DC1}" type="slidenum">
              <a:rPr lang="en-US" smtClean="0"/>
              <a:t>7</a:t>
            </a:fld>
            <a:endParaRPr lang="en-US"/>
          </a:p>
        </p:txBody>
      </p:sp>
      <p:sp>
        <p:nvSpPr>
          <p:cNvPr id="5" name="Content Placeholder 4">
            <a:extLst>
              <a:ext uri="{FF2B5EF4-FFF2-40B4-BE49-F238E27FC236}">
                <a16:creationId xmlns:a16="http://schemas.microsoft.com/office/drawing/2014/main" id="{E32BFF4F-7542-66C4-7C6C-3CD566C99788}"/>
              </a:ext>
            </a:extLst>
          </p:cNvPr>
          <p:cNvSpPr>
            <a:spLocks noGrp="1"/>
          </p:cNvSpPr>
          <p:nvPr>
            <p:ph idx="1"/>
          </p:nvPr>
        </p:nvSpPr>
        <p:spPr>
          <a:xfrm>
            <a:off x="838200" y="1089061"/>
            <a:ext cx="10515600" cy="5087902"/>
          </a:xfrm>
        </p:spPr>
        <p:txBody>
          <a:bodyPr>
            <a:normAutofit fontScale="85000" lnSpcReduction="20000"/>
          </a:bodyPr>
          <a:lstStyle/>
          <a:p>
            <a:pPr algn="just">
              <a:buNone/>
            </a:pPr>
            <a:r>
              <a:rPr lang="en-US" b="1" dirty="0"/>
              <a:t>Problem:</a:t>
            </a:r>
            <a:r>
              <a:rPr lang="en-US" dirty="0"/>
              <a:t> Find the shortest path between all pairs of vertices in a weighted, directed graph. The graph can have negative edge weights, but no negative-weight cycles.</a:t>
            </a:r>
          </a:p>
          <a:p>
            <a:pPr algn="just">
              <a:buNone/>
            </a:pPr>
            <a:r>
              <a:rPr lang="en-US" b="1" dirty="0"/>
              <a:t>Explanation:</a:t>
            </a:r>
            <a:r>
              <a:rPr lang="en-US" dirty="0"/>
              <a:t> The Floyd-</a:t>
            </a:r>
            <a:r>
              <a:rPr lang="en-US" dirty="0" err="1"/>
              <a:t>Warshall</a:t>
            </a:r>
            <a:r>
              <a:rPr lang="en-US" dirty="0"/>
              <a:t> algorithm is a DP solution that iteratively updates the shortest distance between all pairs of vertices. It considers all vertices as potential intermediate vertices in a path.</a:t>
            </a:r>
          </a:p>
          <a:p>
            <a:pPr algn="just">
              <a:buNone/>
            </a:pPr>
            <a:r>
              <a:rPr lang="en-US" b="1" dirty="0"/>
              <a:t>Algorithm:</a:t>
            </a:r>
            <a:endParaRPr lang="en-US" dirty="0"/>
          </a:p>
          <a:p>
            <a:pPr algn="just">
              <a:buFont typeface="+mj-lt"/>
              <a:buAutoNum type="arabicPeriod"/>
            </a:pPr>
            <a:r>
              <a:rPr lang="en-US" dirty="0"/>
              <a:t>Let the graph have n vertices. Initialize a distance matrix </a:t>
            </a:r>
            <a:r>
              <a:rPr lang="en-US" dirty="0">
                <a:effectLst/>
              </a:rPr>
              <a:t>D</a:t>
            </a:r>
            <a:r>
              <a:rPr lang="en-US" dirty="0"/>
              <a:t>[</a:t>
            </a:r>
            <a:r>
              <a:rPr lang="en-US" dirty="0" err="1"/>
              <a:t>i,</a:t>
            </a:r>
            <a:r>
              <a:rPr lang="en-US" dirty="0" err="1">
                <a:effectLst/>
              </a:rPr>
              <a:t>j</a:t>
            </a:r>
            <a:r>
              <a:rPr lang="en-US" dirty="0"/>
              <a:t>] with the edge weights. If there is no direct edge from </a:t>
            </a:r>
            <a:r>
              <a:rPr lang="en-US" dirty="0" err="1"/>
              <a:t>i</a:t>
            </a:r>
            <a:r>
              <a:rPr lang="en-US" dirty="0"/>
              <a:t> to </a:t>
            </a:r>
            <a:r>
              <a:rPr lang="en-US" dirty="0">
                <a:effectLst/>
              </a:rPr>
              <a:t>j</a:t>
            </a:r>
            <a:r>
              <a:rPr lang="en-US" dirty="0"/>
              <a:t>, set </a:t>
            </a:r>
            <a:r>
              <a:rPr lang="en-US" dirty="0">
                <a:effectLst/>
              </a:rPr>
              <a:t>D</a:t>
            </a:r>
            <a:r>
              <a:rPr lang="en-US" dirty="0"/>
              <a:t>[</a:t>
            </a:r>
            <a:r>
              <a:rPr lang="en-US" dirty="0" err="1"/>
              <a:t>i,</a:t>
            </a:r>
            <a:r>
              <a:rPr lang="en-US" dirty="0" err="1">
                <a:effectLst/>
              </a:rPr>
              <a:t>j</a:t>
            </a:r>
            <a:r>
              <a:rPr lang="en-US" dirty="0"/>
              <a:t>]=∞.</a:t>
            </a:r>
          </a:p>
          <a:p>
            <a:pPr algn="just">
              <a:buFont typeface="+mj-lt"/>
              <a:buAutoNum type="arabicPeriod"/>
            </a:pPr>
            <a:r>
              <a:rPr lang="en-US" dirty="0"/>
              <a:t>Iterate through all vertices </a:t>
            </a:r>
            <a:r>
              <a:rPr lang="en-US" dirty="0">
                <a:effectLst/>
              </a:rPr>
              <a:t>k</a:t>
            </a:r>
            <a:r>
              <a:rPr lang="en-US" dirty="0"/>
              <a:t> from 1 to n.</a:t>
            </a:r>
          </a:p>
          <a:p>
            <a:pPr algn="just">
              <a:buFont typeface="+mj-lt"/>
              <a:buAutoNum type="arabicPeriod"/>
            </a:pPr>
            <a:r>
              <a:rPr lang="en-US" dirty="0"/>
              <a:t>For each pair of vertices (</a:t>
            </a:r>
            <a:r>
              <a:rPr lang="en-US" dirty="0" err="1"/>
              <a:t>i,</a:t>
            </a:r>
            <a:r>
              <a:rPr lang="en-US" dirty="0" err="1">
                <a:effectLst/>
              </a:rPr>
              <a:t>j</a:t>
            </a:r>
            <a:r>
              <a:rPr lang="en-US" dirty="0"/>
              <a:t>), update the distance using the formula: </a:t>
            </a:r>
            <a:r>
              <a:rPr lang="en-US" dirty="0">
                <a:effectLst/>
              </a:rPr>
              <a:t>D</a:t>
            </a:r>
            <a:r>
              <a:rPr lang="en-US" dirty="0"/>
              <a:t>[</a:t>
            </a:r>
            <a:r>
              <a:rPr lang="en-US" dirty="0" err="1"/>
              <a:t>i,</a:t>
            </a:r>
            <a:r>
              <a:rPr lang="en-US" dirty="0" err="1">
                <a:effectLst/>
              </a:rPr>
              <a:t>j</a:t>
            </a:r>
            <a:r>
              <a:rPr lang="en-US" dirty="0"/>
              <a:t>]=min(</a:t>
            </a:r>
            <a:r>
              <a:rPr lang="en-US" dirty="0">
                <a:effectLst/>
              </a:rPr>
              <a:t>D</a:t>
            </a:r>
            <a:r>
              <a:rPr lang="en-US" dirty="0"/>
              <a:t>[</a:t>
            </a:r>
            <a:r>
              <a:rPr lang="en-US" dirty="0" err="1"/>
              <a:t>i,</a:t>
            </a:r>
            <a:r>
              <a:rPr lang="en-US" dirty="0" err="1">
                <a:effectLst/>
              </a:rPr>
              <a:t>j</a:t>
            </a:r>
            <a:r>
              <a:rPr lang="en-US" dirty="0"/>
              <a:t>],</a:t>
            </a:r>
            <a:r>
              <a:rPr lang="en-US" dirty="0">
                <a:effectLst/>
              </a:rPr>
              <a:t>D</a:t>
            </a:r>
            <a:r>
              <a:rPr lang="en-US" dirty="0"/>
              <a:t>[</a:t>
            </a:r>
            <a:r>
              <a:rPr lang="en-US" dirty="0" err="1"/>
              <a:t>i,</a:t>
            </a:r>
            <a:r>
              <a:rPr lang="en-US" dirty="0" err="1">
                <a:effectLst/>
              </a:rPr>
              <a:t>k</a:t>
            </a:r>
            <a:r>
              <a:rPr lang="en-US" dirty="0"/>
              <a:t>]+</a:t>
            </a:r>
            <a:r>
              <a:rPr lang="en-US" dirty="0">
                <a:effectLst/>
              </a:rPr>
              <a:t>D</a:t>
            </a:r>
            <a:r>
              <a:rPr lang="en-US" dirty="0"/>
              <a:t>[</a:t>
            </a:r>
            <a:r>
              <a:rPr lang="en-US" dirty="0" err="1">
                <a:effectLst/>
              </a:rPr>
              <a:t>k</a:t>
            </a:r>
            <a:r>
              <a:rPr lang="en-US" dirty="0" err="1"/>
              <a:t>,</a:t>
            </a:r>
            <a:r>
              <a:rPr lang="en-US" dirty="0" err="1">
                <a:effectLst/>
              </a:rPr>
              <a:t>j</a:t>
            </a:r>
            <a:r>
              <a:rPr lang="en-US" dirty="0"/>
              <a:t>])</a:t>
            </a:r>
          </a:p>
          <a:p>
            <a:pPr marL="742950" lvl="1" indent="-285750" algn="just">
              <a:buFont typeface="+mj-lt"/>
              <a:buAutoNum type="arabicPeriod"/>
            </a:pPr>
            <a:r>
              <a:rPr lang="en-US" dirty="0"/>
              <a:t>This checks if the path from </a:t>
            </a:r>
            <a:r>
              <a:rPr lang="en-US" dirty="0" err="1"/>
              <a:t>i</a:t>
            </a:r>
            <a:r>
              <a:rPr lang="en-US" dirty="0"/>
              <a:t> to </a:t>
            </a:r>
            <a:r>
              <a:rPr lang="en-US" dirty="0">
                <a:effectLst/>
              </a:rPr>
              <a:t>j</a:t>
            </a:r>
            <a:r>
              <a:rPr lang="en-US" dirty="0"/>
              <a:t> via vertex </a:t>
            </a:r>
            <a:r>
              <a:rPr lang="en-US" dirty="0">
                <a:effectLst/>
              </a:rPr>
              <a:t>k</a:t>
            </a:r>
            <a:r>
              <a:rPr lang="en-US" dirty="0"/>
              <a:t> is shorter than the currently known shortest path.</a:t>
            </a:r>
          </a:p>
          <a:p>
            <a:pPr algn="just">
              <a:buFont typeface="+mj-lt"/>
              <a:buAutoNum type="arabicPeriod"/>
            </a:pPr>
            <a:r>
              <a:rPr lang="en-US" dirty="0"/>
              <a:t>After the loops complete, the matrix </a:t>
            </a:r>
            <a:r>
              <a:rPr lang="en-US" dirty="0">
                <a:effectLst/>
              </a:rPr>
              <a:t>D</a:t>
            </a:r>
            <a:r>
              <a:rPr lang="en-US" dirty="0"/>
              <a:t> will contain the shortest distances between all pairs.</a:t>
            </a:r>
          </a:p>
          <a:p>
            <a:pPr marL="0" indent="0" algn="just">
              <a:buNone/>
            </a:pPr>
            <a:endParaRPr lang="en-US" dirty="0"/>
          </a:p>
        </p:txBody>
      </p:sp>
    </p:spTree>
    <p:extLst>
      <p:ext uri="{BB962C8B-B14F-4D97-AF65-F5344CB8AC3E}">
        <p14:creationId xmlns:p14="http://schemas.microsoft.com/office/powerpoint/2010/main" val="2667514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B86E-8629-3268-BD1F-4994AA587B55}"/>
              </a:ext>
            </a:extLst>
          </p:cNvPr>
          <p:cNvSpPr>
            <a:spLocks noGrp="1"/>
          </p:cNvSpPr>
          <p:nvPr>
            <p:ph type="title"/>
          </p:nvPr>
        </p:nvSpPr>
        <p:spPr>
          <a:xfrm>
            <a:off x="838200" y="365126"/>
            <a:ext cx="10515600" cy="477355"/>
          </a:xfrm>
        </p:spPr>
        <p:txBody>
          <a:bodyPr>
            <a:noAutofit/>
          </a:bodyPr>
          <a:lstStyle/>
          <a:p>
            <a:pPr algn="ctr"/>
            <a:r>
              <a:rPr lang="en-US" sz="3200" b="1" dirty="0"/>
              <a:t>Example: All-Pairs Shortest Paths (Floyd-</a:t>
            </a:r>
            <a:r>
              <a:rPr lang="en-US" sz="3200" b="1" dirty="0" err="1"/>
              <a:t>Warshall</a:t>
            </a:r>
            <a:r>
              <a:rPr lang="en-US" sz="3200" b="1" dirty="0"/>
              <a:t>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B1CDAE-D04B-2556-CE78-727BBFC0FC65}"/>
                  </a:ext>
                </a:extLst>
              </p:cNvPr>
              <p:cNvSpPr>
                <a:spLocks noGrp="1"/>
              </p:cNvSpPr>
              <p:nvPr>
                <p:ph idx="1"/>
              </p:nvPr>
            </p:nvSpPr>
            <p:spPr>
              <a:xfrm>
                <a:off x="838200" y="932944"/>
                <a:ext cx="10515600" cy="5332943"/>
              </a:xfrm>
            </p:spPr>
            <p:txBody>
              <a:bodyPr>
                <a:normAutofit/>
              </a:bodyPr>
              <a:lstStyle/>
              <a:p>
                <a:pPr marL="0" indent="0">
                  <a:buNone/>
                </a:pPr>
                <a:r>
                  <a:rPr lang="en-US" sz="2000" dirty="0"/>
                  <a:t>Graph: Vertices 1, 2, 3.</a:t>
                </a:r>
              </a:p>
              <a:p>
                <a:pPr marL="0" indent="0">
                  <a:buNone/>
                </a:pPr>
                <a:r>
                  <a:rPr lang="en-US" sz="2000" dirty="0"/>
                  <a:t>Edges: (1,2,3), (1,3,8), (2,3,2), (3,1,5), (2,1,7), (3,2,-1).</a:t>
                </a:r>
              </a:p>
              <a:p>
                <a:pPr marL="0" indent="0">
                  <a:buNone/>
                </a:pPr>
                <a:r>
                  <a:rPr lang="en-US" sz="2000" dirty="0"/>
                  <a:t>Initial Distance Matrix:</a:t>
                </a:r>
              </a:p>
              <a:p>
                <a:pPr marL="0" indent="0">
                  <a:buNone/>
                </a:pP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0</m:t>
                        </m:r>
                      </m:sup>
                    </m:sSup>
                  </m:oMath>
                </a14:m>
                <a:r>
                  <a:rPr lang="en-US" sz="2000" dirty="0"/>
                  <a:t> = ​ </a:t>
                </a:r>
                <a14:m>
                  <m:oMath xmlns:m="http://schemas.openxmlformats.org/officeDocument/2006/math">
                    <m:m>
                      <m:mPr>
                        <m:plcHide m:val="on"/>
                        <m:mcs>
                          <m:mc>
                            <m:mcPr>
                              <m:count m:val="3"/>
                              <m:mcJc m:val="center"/>
                            </m:mcPr>
                          </m:mc>
                        </m:mcs>
                        <m:ctrlPr>
                          <a:rPr lang="en-US" sz="2000" i="1" smtClean="0">
                            <a:latin typeface="Cambria Math" panose="02040503050406030204" pitchFamily="18" charset="0"/>
                          </a:rPr>
                        </m:ctrlPr>
                      </m:mPr>
                      <m:mr>
                        <m:e>
                          <m:r>
                            <a:rPr lang="en-US" sz="2000" b="0" i="1" smtClean="0">
                              <a:latin typeface="Cambria Math" panose="02040503050406030204" pitchFamily="18" charset="0"/>
                            </a:rPr>
                            <m:t>0</m:t>
                          </m:r>
                        </m:e>
                        <m:e>
                          <m:r>
                            <a:rPr lang="en-US" sz="2000" b="0" i="1" smtClean="0">
                              <a:latin typeface="Cambria Math" panose="02040503050406030204" pitchFamily="18" charset="0"/>
                            </a:rPr>
                            <m:t>3</m:t>
                          </m:r>
                        </m:e>
                        <m:e>
                          <m:r>
                            <a:rPr lang="en-US" sz="2000" b="0" i="1" smtClean="0">
                              <a:latin typeface="Cambria Math" panose="02040503050406030204" pitchFamily="18" charset="0"/>
                            </a:rPr>
                            <m:t>8</m:t>
                          </m:r>
                        </m:e>
                      </m:mr>
                      <m:mr>
                        <m:e>
                          <m:r>
                            <a:rPr lang="en-US" sz="2000" b="0" i="1" smtClean="0">
                              <a:latin typeface="Cambria Math" panose="02040503050406030204" pitchFamily="18" charset="0"/>
                            </a:rPr>
                            <m:t>7</m:t>
                          </m:r>
                        </m:e>
                        <m:e>
                          <m:r>
                            <a:rPr lang="en-US" sz="2000" b="0" i="1" smtClean="0">
                              <a:latin typeface="Cambria Math" panose="02040503050406030204" pitchFamily="18" charset="0"/>
                            </a:rPr>
                            <m:t>0</m:t>
                          </m:r>
                        </m:e>
                        <m:e>
                          <m:r>
                            <a:rPr lang="en-US" sz="2000" b="0" i="1" smtClean="0">
                              <a:latin typeface="Cambria Math" panose="02040503050406030204" pitchFamily="18" charset="0"/>
                            </a:rPr>
                            <m:t>2</m:t>
                          </m:r>
                        </m:e>
                      </m:mr>
                      <m:mr>
                        <m:e>
                          <m:r>
                            <a:rPr lang="en-US" sz="2000" b="0" i="1" smtClean="0">
                              <a:latin typeface="Cambria Math" panose="02040503050406030204" pitchFamily="18" charset="0"/>
                            </a:rPr>
                            <m:t>5</m:t>
                          </m:r>
                        </m:e>
                        <m:e>
                          <m:r>
                            <a:rPr lang="en-US" sz="2000" b="0" i="1" smtClean="0">
                              <a:latin typeface="Cambria Math" panose="02040503050406030204" pitchFamily="18" charset="0"/>
                            </a:rPr>
                            <m:t>−1</m:t>
                          </m:r>
                        </m:e>
                        <m:e>
                          <m:r>
                            <a:rPr lang="en-US" sz="2000" b="0" i="1" smtClean="0">
                              <a:latin typeface="Cambria Math" panose="02040503050406030204" pitchFamily="18" charset="0"/>
                            </a:rPr>
                            <m:t>0</m:t>
                          </m:r>
                        </m:e>
                      </m:mr>
                    </m:m>
                  </m:oMath>
                </a14:m>
                <a:r>
                  <a:rPr lang="en-US" sz="2000" dirty="0"/>
                  <a:t> ​  ​ </a:t>
                </a:r>
              </a:p>
              <a:p>
                <a:pPr marL="0" indent="0">
                  <a:buNone/>
                </a:pPr>
                <a:r>
                  <a:rPr lang="en-US" sz="2000" dirty="0"/>
                  <a:t>Solution: Iteration 1 (k=1): Check paths via vertex 1.</a:t>
                </a:r>
              </a:p>
              <a:p>
                <a:pPr marL="0" indent="0">
                  <a:buNone/>
                </a:pPr>
                <a:r>
                  <a:rPr lang="en-US" sz="2000" dirty="0"/>
                  <a:t>D[2,3]=min(D[2,3],D[2,1]+D[1,3])=min(2,7+8)=2</a:t>
                </a:r>
              </a:p>
              <a:p>
                <a:pPr marL="0" indent="0">
                  <a:buNone/>
                </a:pPr>
                <a:r>
                  <a:rPr lang="en-US" sz="2000" dirty="0"/>
                  <a:t>D[3,2]=min(D[3,2],D[3,1]+D[1,2])=min(−1,5+3)=−1...and so on. </a:t>
                </a:r>
              </a:p>
              <a:p>
                <a:pPr marL="0" indent="0">
                  <a:buNone/>
                </a:pPr>
                <a:r>
                  <a:rPr lang="en-US" sz="2000" dirty="0"/>
                  <a:t>The matrix is updated.</a:t>
                </a:r>
              </a:p>
              <a:p>
                <a:pPr marL="0" indent="0">
                  <a:buNone/>
                </a:pPr>
                <a:r>
                  <a:rPr lang="en-US" sz="2000" dirty="0"/>
                  <a:t>Iteration 2 (k=2): Check paths via vertex 2.</a:t>
                </a:r>
              </a:p>
              <a:p>
                <a:pPr marL="0" indent="0">
                  <a:buNone/>
                </a:pPr>
                <a:r>
                  <a:rPr lang="en-US" sz="2000" dirty="0"/>
                  <a:t>D[1,3]=min(D[1,3],D[1,2]+D[2,3])=min(8,3+2)=5</a:t>
                </a:r>
              </a:p>
              <a:p>
                <a:pPr marL="0" indent="0">
                  <a:buNone/>
                </a:pPr>
                <a:r>
                  <a:rPr lang="en-US" sz="2000" dirty="0"/>
                  <a:t>Iteration 3 (k=3): Check paths via vertex 3.</a:t>
                </a:r>
              </a:p>
              <a:p>
                <a:pPr marL="0" indent="0">
                  <a:buNone/>
                </a:pPr>
                <a:r>
                  <a:rPr lang="en-US" sz="2000" dirty="0"/>
                  <a:t>The final matrix after all iterations will contain the shortest paths.</a:t>
                </a:r>
              </a:p>
            </p:txBody>
          </p:sp>
        </mc:Choice>
        <mc:Fallback xmlns="">
          <p:sp>
            <p:nvSpPr>
              <p:cNvPr id="3" name="Content Placeholder 2">
                <a:extLst>
                  <a:ext uri="{FF2B5EF4-FFF2-40B4-BE49-F238E27FC236}">
                    <a16:creationId xmlns:a16="http://schemas.microsoft.com/office/drawing/2014/main" id="{48B1CDAE-D04B-2556-CE78-727BBFC0FC65}"/>
                  </a:ext>
                </a:extLst>
              </p:cNvPr>
              <p:cNvSpPr>
                <a:spLocks noGrp="1" noRot="1" noChangeAspect="1" noMove="1" noResize="1" noEditPoints="1" noAdjustHandles="1" noChangeArrowheads="1" noChangeShapeType="1" noTextEdit="1"/>
              </p:cNvSpPr>
              <p:nvPr>
                <p:ph idx="1"/>
              </p:nvPr>
            </p:nvSpPr>
            <p:spPr>
              <a:xfrm>
                <a:off x="838200" y="932944"/>
                <a:ext cx="10515600" cy="5332943"/>
              </a:xfrm>
              <a:blipFill>
                <a:blip r:embed="rId2"/>
                <a:stretch>
                  <a:fillRect l="-638" t="-1143" b="-114"/>
                </a:stretch>
              </a:blipFill>
            </p:spPr>
            <p:txBody>
              <a:bodyPr/>
              <a:lstStyle/>
              <a:p>
                <a:r>
                  <a:rPr lang="en-US">
                    <a:noFill/>
                  </a:rPr>
                  <a:t> </a:t>
                </a:r>
              </a:p>
            </p:txBody>
          </p:sp>
        </mc:Fallback>
      </mc:AlternateContent>
      <p:sp>
        <p:nvSpPr>
          <p:cNvPr id="7" name="Date Placeholder 6">
            <a:extLst>
              <a:ext uri="{FF2B5EF4-FFF2-40B4-BE49-F238E27FC236}">
                <a16:creationId xmlns:a16="http://schemas.microsoft.com/office/drawing/2014/main" id="{021FA0F2-97E8-49B9-5542-EC9429514AD3}"/>
              </a:ext>
            </a:extLst>
          </p:cNvPr>
          <p:cNvSpPr>
            <a:spLocks noGrp="1"/>
          </p:cNvSpPr>
          <p:nvPr>
            <p:ph type="dt" sz="half" idx="10"/>
          </p:nvPr>
        </p:nvSpPr>
        <p:spPr/>
        <p:txBody>
          <a:bodyPr/>
          <a:lstStyle/>
          <a:p>
            <a:fld id="{B4FFE647-7C55-4494-8906-729CFC20DFB6}" type="datetime1">
              <a:rPr lang="en-US" smtClean="0"/>
              <a:t>9/22/2026</a:t>
            </a:fld>
            <a:endParaRPr lang="en-US"/>
          </a:p>
        </p:txBody>
      </p:sp>
      <p:sp>
        <p:nvSpPr>
          <p:cNvPr id="8" name="Footer Placeholder 7">
            <a:extLst>
              <a:ext uri="{FF2B5EF4-FFF2-40B4-BE49-F238E27FC236}">
                <a16:creationId xmlns:a16="http://schemas.microsoft.com/office/drawing/2014/main" id="{B450C63E-1933-E626-14AA-8E96573870B1}"/>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3481F3FE-9EAF-826A-485D-B4645F0A699A}"/>
              </a:ext>
            </a:extLst>
          </p:cNvPr>
          <p:cNvSpPr>
            <a:spLocks noGrp="1"/>
          </p:cNvSpPr>
          <p:nvPr>
            <p:ph type="sldNum" sz="quarter" idx="12"/>
          </p:nvPr>
        </p:nvSpPr>
        <p:spPr/>
        <p:txBody>
          <a:bodyPr/>
          <a:lstStyle/>
          <a:p>
            <a:fld id="{099CF9D6-C8DD-42B2-8F38-039A05793DC1}" type="slidenum">
              <a:rPr lang="en-US" smtClean="0"/>
              <a:t>8</a:t>
            </a:fld>
            <a:endParaRPr lang="en-US"/>
          </a:p>
        </p:txBody>
      </p:sp>
    </p:spTree>
    <p:extLst>
      <p:ext uri="{BB962C8B-B14F-4D97-AF65-F5344CB8AC3E}">
        <p14:creationId xmlns:p14="http://schemas.microsoft.com/office/powerpoint/2010/main" val="1698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59A8-2ED1-5851-4ADF-20529B0FC061}"/>
              </a:ext>
            </a:extLst>
          </p:cNvPr>
          <p:cNvSpPr>
            <a:spLocks noGrp="1"/>
          </p:cNvSpPr>
          <p:nvPr>
            <p:ph type="title"/>
          </p:nvPr>
        </p:nvSpPr>
        <p:spPr>
          <a:xfrm>
            <a:off x="838200" y="365126"/>
            <a:ext cx="10515600" cy="452080"/>
          </a:xfrm>
        </p:spPr>
        <p:txBody>
          <a:bodyPr>
            <a:normAutofit fontScale="90000"/>
          </a:bodyPr>
          <a:lstStyle/>
          <a:p>
            <a:pPr algn="ctr"/>
            <a:r>
              <a:rPr lang="en-US" sz="4000" b="1" dirty="0"/>
              <a:t>Longest Common Subsequence (LCS)</a:t>
            </a:r>
          </a:p>
        </p:txBody>
      </p:sp>
      <p:sp>
        <p:nvSpPr>
          <p:cNvPr id="3" name="Content Placeholder 2">
            <a:extLst>
              <a:ext uri="{FF2B5EF4-FFF2-40B4-BE49-F238E27FC236}">
                <a16:creationId xmlns:a16="http://schemas.microsoft.com/office/drawing/2014/main" id="{3B1B45FA-12FE-C0B5-94D7-4108498DEDB4}"/>
              </a:ext>
            </a:extLst>
          </p:cNvPr>
          <p:cNvSpPr>
            <a:spLocks noGrp="1"/>
          </p:cNvSpPr>
          <p:nvPr>
            <p:ph idx="1"/>
          </p:nvPr>
        </p:nvSpPr>
        <p:spPr>
          <a:xfrm>
            <a:off x="838200" y="996593"/>
            <a:ext cx="10515600" cy="5180370"/>
          </a:xfrm>
        </p:spPr>
        <p:txBody>
          <a:bodyPr>
            <a:normAutofit fontScale="85000" lnSpcReduction="10000"/>
          </a:bodyPr>
          <a:lstStyle/>
          <a:p>
            <a:pPr algn="just">
              <a:buNone/>
            </a:pPr>
            <a:r>
              <a:rPr lang="en-US" b="1" dirty="0"/>
              <a:t>Problem:</a:t>
            </a:r>
            <a:r>
              <a:rPr lang="en-US" dirty="0"/>
              <a:t> Find the longest subsequence that is common to two given sequences. A subsequence is a sequence that can be derived from another sequence by deleting some or no elements without changing the order of the remaining elements.</a:t>
            </a:r>
          </a:p>
          <a:p>
            <a:pPr algn="just">
              <a:buNone/>
            </a:pPr>
            <a:r>
              <a:rPr lang="en-US" b="1" dirty="0"/>
              <a:t>Explanation:</a:t>
            </a:r>
            <a:r>
              <a:rPr lang="en-US" dirty="0"/>
              <a:t> The DP approach for LCS builds a 2D table to store the length of the LCS for all possible prefixes of the two sequences.</a:t>
            </a:r>
          </a:p>
          <a:p>
            <a:pPr algn="just">
              <a:buNone/>
            </a:pPr>
            <a:r>
              <a:rPr lang="en-US" b="1" dirty="0"/>
              <a:t>Algorithm:</a:t>
            </a:r>
            <a:endParaRPr lang="en-US" dirty="0"/>
          </a:p>
          <a:p>
            <a:pPr algn="just">
              <a:buFont typeface="+mj-lt"/>
              <a:buAutoNum type="arabicPeriod"/>
            </a:pPr>
            <a:r>
              <a:rPr lang="en-US" dirty="0"/>
              <a:t>Let the two sequences be </a:t>
            </a:r>
            <a:r>
              <a:rPr lang="en-US" dirty="0">
                <a:effectLst/>
              </a:rPr>
              <a:t>X</a:t>
            </a:r>
            <a:r>
              <a:rPr lang="en-US" dirty="0"/>
              <a:t> of length m and </a:t>
            </a:r>
            <a:r>
              <a:rPr lang="en-US" dirty="0">
                <a:effectLst/>
              </a:rPr>
              <a:t>Y</a:t>
            </a:r>
            <a:r>
              <a:rPr lang="en-US" dirty="0"/>
              <a:t> of length n.</a:t>
            </a:r>
          </a:p>
          <a:p>
            <a:pPr algn="just">
              <a:buFont typeface="+mj-lt"/>
              <a:buAutoNum type="arabicPeriod"/>
            </a:pPr>
            <a:r>
              <a:rPr lang="en-US" dirty="0"/>
              <a:t>Create a table L</a:t>
            </a:r>
            <a:r>
              <a:rPr lang="en-US" dirty="0">
                <a:effectLst/>
              </a:rPr>
              <a:t>CS</a:t>
            </a:r>
            <a:r>
              <a:rPr lang="en-US" dirty="0"/>
              <a:t>[m+1,n+1].</a:t>
            </a:r>
          </a:p>
          <a:p>
            <a:pPr algn="just">
              <a:buFont typeface="+mj-lt"/>
              <a:buAutoNum type="arabicPeriod"/>
            </a:pPr>
            <a:r>
              <a:rPr lang="en-US" dirty="0"/>
              <a:t>Iterate through the table, filling it based on the following recurrence relation:</a:t>
            </a:r>
          </a:p>
          <a:p>
            <a:pPr marL="742950" lvl="1" indent="-285750" algn="just">
              <a:buFont typeface="+mj-lt"/>
              <a:buAutoNum type="arabicPeriod"/>
            </a:pPr>
            <a:r>
              <a:rPr lang="en-US" dirty="0"/>
              <a:t>If </a:t>
            </a:r>
            <a:r>
              <a:rPr lang="en-US" dirty="0">
                <a:effectLst/>
              </a:rPr>
              <a:t>X</a:t>
            </a:r>
            <a:r>
              <a:rPr lang="en-US" dirty="0"/>
              <a:t>[i−1]==</a:t>
            </a:r>
            <a:r>
              <a:rPr lang="en-US" dirty="0">
                <a:effectLst/>
              </a:rPr>
              <a:t>Y</a:t>
            </a:r>
            <a:r>
              <a:rPr lang="en-US" dirty="0"/>
              <a:t>[</a:t>
            </a:r>
            <a:r>
              <a:rPr lang="en-US" dirty="0">
                <a:effectLst/>
              </a:rPr>
              <a:t>j</a:t>
            </a:r>
            <a:r>
              <a:rPr lang="en-US" dirty="0"/>
              <a:t>−1] (the characters match), then L</a:t>
            </a:r>
            <a:r>
              <a:rPr lang="en-US" dirty="0">
                <a:effectLst/>
              </a:rPr>
              <a:t>CS</a:t>
            </a:r>
            <a:r>
              <a:rPr lang="en-US" dirty="0"/>
              <a:t>[</a:t>
            </a:r>
            <a:r>
              <a:rPr lang="en-US" dirty="0" err="1"/>
              <a:t>i,</a:t>
            </a:r>
            <a:r>
              <a:rPr lang="en-US" dirty="0" err="1">
                <a:effectLst/>
              </a:rPr>
              <a:t>j</a:t>
            </a:r>
            <a:r>
              <a:rPr lang="en-US" dirty="0"/>
              <a:t>]=1+L</a:t>
            </a:r>
            <a:r>
              <a:rPr lang="en-US" dirty="0">
                <a:effectLst/>
              </a:rPr>
              <a:t>CS</a:t>
            </a:r>
            <a:r>
              <a:rPr lang="en-US" dirty="0"/>
              <a:t>[i−1,</a:t>
            </a:r>
            <a:r>
              <a:rPr lang="en-US" dirty="0">
                <a:effectLst/>
              </a:rPr>
              <a:t>j</a:t>
            </a:r>
            <a:r>
              <a:rPr lang="en-US" dirty="0"/>
              <a:t>−1].</a:t>
            </a:r>
          </a:p>
          <a:p>
            <a:pPr marL="742950" lvl="1" indent="-285750" algn="just">
              <a:buFont typeface="+mj-lt"/>
              <a:buAutoNum type="arabicPeriod"/>
            </a:pPr>
            <a:r>
              <a:rPr lang="en-US" dirty="0"/>
              <a:t>If </a:t>
            </a:r>
            <a:r>
              <a:rPr lang="en-US" dirty="0">
                <a:effectLst/>
              </a:rPr>
              <a:t>X</a:t>
            </a:r>
            <a:r>
              <a:rPr lang="en-US" dirty="0"/>
              <a:t>[i−1] ≠ </a:t>
            </a:r>
            <a:r>
              <a:rPr lang="en-US" dirty="0">
                <a:effectLst/>
              </a:rPr>
              <a:t>Y</a:t>
            </a:r>
            <a:r>
              <a:rPr lang="en-US" dirty="0"/>
              <a:t>[</a:t>
            </a:r>
            <a:r>
              <a:rPr lang="en-US" dirty="0">
                <a:effectLst/>
              </a:rPr>
              <a:t>j</a:t>
            </a:r>
            <a:r>
              <a:rPr lang="en-US" dirty="0"/>
              <a:t>−1] (the characters don't match), then L</a:t>
            </a:r>
            <a:r>
              <a:rPr lang="en-US" dirty="0">
                <a:effectLst/>
              </a:rPr>
              <a:t>CS</a:t>
            </a:r>
            <a:r>
              <a:rPr lang="en-US" dirty="0"/>
              <a:t>[</a:t>
            </a:r>
            <a:r>
              <a:rPr lang="en-US" dirty="0" err="1"/>
              <a:t>i,</a:t>
            </a:r>
            <a:r>
              <a:rPr lang="en-US" dirty="0" err="1">
                <a:effectLst/>
              </a:rPr>
              <a:t>j</a:t>
            </a:r>
            <a:r>
              <a:rPr lang="en-US" dirty="0"/>
              <a:t>]=max(L</a:t>
            </a:r>
            <a:r>
              <a:rPr lang="en-US" dirty="0">
                <a:effectLst/>
              </a:rPr>
              <a:t>CS</a:t>
            </a:r>
            <a:r>
              <a:rPr lang="en-US" dirty="0"/>
              <a:t>[i−1,</a:t>
            </a:r>
            <a:r>
              <a:rPr lang="en-US" dirty="0">
                <a:effectLst/>
              </a:rPr>
              <a:t>j</a:t>
            </a:r>
            <a:r>
              <a:rPr lang="en-US" dirty="0"/>
              <a:t>],L</a:t>
            </a:r>
            <a:r>
              <a:rPr lang="en-US" dirty="0">
                <a:effectLst/>
              </a:rPr>
              <a:t>CS</a:t>
            </a:r>
            <a:r>
              <a:rPr lang="en-US" dirty="0"/>
              <a:t>[i,</a:t>
            </a:r>
            <a:r>
              <a:rPr lang="en-US" dirty="0">
                <a:effectLst/>
              </a:rPr>
              <a:t>j</a:t>
            </a:r>
            <a:r>
              <a:rPr lang="en-US" dirty="0"/>
              <a:t>−1]).</a:t>
            </a:r>
          </a:p>
          <a:p>
            <a:pPr algn="just">
              <a:buFont typeface="+mj-lt"/>
              <a:buAutoNum type="arabicPeriod"/>
            </a:pPr>
            <a:r>
              <a:rPr lang="en-US" dirty="0"/>
              <a:t>The final value in the bottom-right cell, L</a:t>
            </a:r>
            <a:r>
              <a:rPr lang="en-US" dirty="0">
                <a:effectLst/>
              </a:rPr>
              <a:t>CS</a:t>
            </a:r>
            <a:r>
              <a:rPr lang="en-US" dirty="0"/>
              <a:t>[</a:t>
            </a:r>
            <a:r>
              <a:rPr lang="en-US" dirty="0" err="1"/>
              <a:t>m,n</a:t>
            </a:r>
            <a:r>
              <a:rPr lang="en-US" dirty="0"/>
              <a:t>], is the length of the LCS. The actual subsequence can be reconstructed by backtracking through the table.</a:t>
            </a:r>
          </a:p>
          <a:p>
            <a:pPr algn="just">
              <a:buNone/>
            </a:pPr>
            <a:endParaRPr lang="en-US" dirty="0"/>
          </a:p>
        </p:txBody>
      </p:sp>
      <p:sp>
        <p:nvSpPr>
          <p:cNvPr id="7" name="Date Placeholder 6">
            <a:extLst>
              <a:ext uri="{FF2B5EF4-FFF2-40B4-BE49-F238E27FC236}">
                <a16:creationId xmlns:a16="http://schemas.microsoft.com/office/drawing/2014/main" id="{D920A7E1-335E-CD41-1CF6-2FA0647F6844}"/>
              </a:ext>
            </a:extLst>
          </p:cNvPr>
          <p:cNvSpPr>
            <a:spLocks noGrp="1"/>
          </p:cNvSpPr>
          <p:nvPr>
            <p:ph type="dt" sz="half" idx="10"/>
          </p:nvPr>
        </p:nvSpPr>
        <p:spPr/>
        <p:txBody>
          <a:bodyPr/>
          <a:lstStyle/>
          <a:p>
            <a:fld id="{BDCDA9B7-3F87-4DBD-AA58-21C6F07FF544}" type="datetime1">
              <a:rPr lang="en-US" smtClean="0"/>
              <a:t>9/22/2026</a:t>
            </a:fld>
            <a:endParaRPr lang="en-US"/>
          </a:p>
        </p:txBody>
      </p:sp>
      <p:sp>
        <p:nvSpPr>
          <p:cNvPr id="8" name="Footer Placeholder 7">
            <a:extLst>
              <a:ext uri="{FF2B5EF4-FFF2-40B4-BE49-F238E27FC236}">
                <a16:creationId xmlns:a16="http://schemas.microsoft.com/office/drawing/2014/main" id="{0E917F57-9E3E-FBCB-CD6F-9AC0FDBAB1C5}"/>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351BA01C-2D70-75B6-5D14-0ACFB46FA1C2}"/>
              </a:ext>
            </a:extLst>
          </p:cNvPr>
          <p:cNvSpPr>
            <a:spLocks noGrp="1"/>
          </p:cNvSpPr>
          <p:nvPr>
            <p:ph type="sldNum" sz="quarter" idx="12"/>
          </p:nvPr>
        </p:nvSpPr>
        <p:spPr/>
        <p:txBody>
          <a:bodyPr/>
          <a:lstStyle/>
          <a:p>
            <a:fld id="{099CF9D6-C8DD-42B2-8F38-039A05793DC1}" type="slidenum">
              <a:rPr lang="en-US" smtClean="0"/>
              <a:t>9</a:t>
            </a:fld>
            <a:endParaRPr lang="en-US"/>
          </a:p>
        </p:txBody>
      </p:sp>
    </p:spTree>
    <p:extLst>
      <p:ext uri="{BB962C8B-B14F-4D97-AF65-F5344CB8AC3E}">
        <p14:creationId xmlns:p14="http://schemas.microsoft.com/office/powerpoint/2010/main" val="239785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6E47B-5893-ACF6-C9D9-25FFE34AB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E68C0-408F-EF78-F612-FA04783C9156}"/>
              </a:ext>
            </a:extLst>
          </p:cNvPr>
          <p:cNvSpPr>
            <a:spLocks noGrp="1"/>
          </p:cNvSpPr>
          <p:nvPr>
            <p:ph type="title"/>
          </p:nvPr>
        </p:nvSpPr>
        <p:spPr>
          <a:xfrm>
            <a:off x="838200" y="365126"/>
            <a:ext cx="10515600" cy="713662"/>
          </a:xfrm>
        </p:spPr>
        <p:txBody>
          <a:bodyPr/>
          <a:lstStyle/>
          <a:p>
            <a:pPr algn="ctr"/>
            <a:r>
              <a:rPr lang="en-US" dirty="0"/>
              <a:t>Example: </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Longest Common Subsequence (LCS)</a:t>
            </a:r>
            <a:endParaRPr lang="en-US" dirty="0"/>
          </a:p>
        </p:txBody>
      </p:sp>
      <p:sp>
        <p:nvSpPr>
          <p:cNvPr id="3" name="Content Placeholder 2">
            <a:extLst>
              <a:ext uri="{FF2B5EF4-FFF2-40B4-BE49-F238E27FC236}">
                <a16:creationId xmlns:a16="http://schemas.microsoft.com/office/drawing/2014/main" id="{A2D5322F-F219-1605-3214-0A1FE923E4AE}"/>
              </a:ext>
            </a:extLst>
          </p:cNvPr>
          <p:cNvSpPr>
            <a:spLocks noGrp="1"/>
          </p:cNvSpPr>
          <p:nvPr>
            <p:ph idx="1"/>
          </p:nvPr>
        </p:nvSpPr>
        <p:spPr>
          <a:xfrm>
            <a:off x="838200" y="1263721"/>
            <a:ext cx="10515600" cy="4913242"/>
          </a:xfrm>
        </p:spPr>
        <p:txBody>
          <a:bodyPr>
            <a:normAutofit/>
          </a:bodyPr>
          <a:lstStyle/>
          <a:p>
            <a:pPr marL="0" indent="0">
              <a:buNone/>
            </a:pPr>
            <a:r>
              <a:rPr lang="en-US" b="1" dirty="0"/>
              <a:t>Sequences:</a:t>
            </a:r>
            <a:r>
              <a:rPr lang="en-US" dirty="0"/>
              <a:t> </a:t>
            </a:r>
            <a:r>
              <a:rPr lang="en-US" dirty="0">
                <a:effectLst/>
              </a:rPr>
              <a:t>X</a:t>
            </a:r>
            <a:r>
              <a:rPr lang="en-US" dirty="0"/>
              <a:t>="A</a:t>
            </a:r>
            <a:r>
              <a:rPr lang="en-US" dirty="0">
                <a:effectLst/>
              </a:rPr>
              <a:t>GGT</a:t>
            </a:r>
            <a:r>
              <a:rPr lang="en-US" dirty="0"/>
              <a:t>A</a:t>
            </a:r>
            <a:r>
              <a:rPr lang="en-US" dirty="0">
                <a:effectLst/>
              </a:rPr>
              <a:t>B</a:t>
            </a:r>
            <a:r>
              <a:rPr lang="en-US" dirty="0"/>
              <a:t>", </a:t>
            </a:r>
            <a:r>
              <a:rPr lang="en-US" dirty="0">
                <a:effectLst/>
              </a:rPr>
              <a:t>Y</a:t>
            </a:r>
            <a:r>
              <a:rPr lang="en-US" dirty="0"/>
              <a:t>="</a:t>
            </a:r>
            <a:r>
              <a:rPr lang="en-US" dirty="0">
                <a:effectLst/>
              </a:rPr>
              <a:t>GXTX</a:t>
            </a:r>
            <a:r>
              <a:rPr lang="en-US" dirty="0"/>
              <a:t>A</a:t>
            </a:r>
            <a:r>
              <a:rPr lang="en-US" dirty="0">
                <a:effectLst/>
              </a:rPr>
              <a:t>YB</a:t>
            </a:r>
            <a:r>
              <a:rPr lang="en-US" dirty="0"/>
              <a:t>"</a:t>
            </a:r>
          </a:p>
          <a:p>
            <a:pPr marL="0" indent="0">
              <a:buNone/>
            </a:pPr>
            <a:r>
              <a:rPr lang="en-US" b="1" dirty="0"/>
              <a:t>Goal:</a:t>
            </a:r>
            <a:r>
              <a:rPr lang="en-US" dirty="0"/>
              <a:t> Find the LCS.</a:t>
            </a:r>
          </a:p>
          <a:p>
            <a:pPr>
              <a:buNone/>
            </a:pPr>
            <a:r>
              <a:rPr lang="en-US" b="1" dirty="0"/>
              <a:t>Solution:</a:t>
            </a:r>
            <a:endParaRPr lang="en-US" dirty="0"/>
          </a:p>
          <a:p>
            <a:pPr>
              <a:buFont typeface="Arial" panose="020B0604020202020204" pitchFamily="34" charset="0"/>
              <a:buChar char="•"/>
            </a:pPr>
            <a:r>
              <a:rPr lang="en-US" dirty="0"/>
              <a:t>We build a table of size (m+1)×(n+1)=7×8.</a:t>
            </a:r>
          </a:p>
          <a:p>
            <a:pPr>
              <a:buFont typeface="Arial" panose="020B0604020202020204" pitchFamily="34" charset="0"/>
              <a:buChar char="•"/>
            </a:pPr>
            <a:r>
              <a:rPr lang="en-US" dirty="0"/>
              <a:t>The final length is found in the last cell, which would be 4.</a:t>
            </a:r>
          </a:p>
          <a:p>
            <a:pPr>
              <a:buFont typeface="Arial" panose="020B0604020202020204" pitchFamily="34" charset="0"/>
              <a:buChar char="•"/>
            </a:pPr>
            <a:r>
              <a:rPr lang="en-US" b="1" dirty="0"/>
              <a:t>LCS:</a:t>
            </a:r>
            <a:r>
              <a:rPr lang="en-US" dirty="0"/>
              <a:t> "GTAB" (or "GTAYB"). The length is 4.</a:t>
            </a:r>
          </a:p>
          <a:p>
            <a:pPr>
              <a:buNone/>
            </a:pPr>
            <a:endParaRPr lang="en-US" dirty="0"/>
          </a:p>
        </p:txBody>
      </p:sp>
      <p:sp>
        <p:nvSpPr>
          <p:cNvPr id="7" name="Date Placeholder 6">
            <a:extLst>
              <a:ext uri="{FF2B5EF4-FFF2-40B4-BE49-F238E27FC236}">
                <a16:creationId xmlns:a16="http://schemas.microsoft.com/office/drawing/2014/main" id="{9C947A70-AA7E-9B46-6D9C-B9F815F13065}"/>
              </a:ext>
            </a:extLst>
          </p:cNvPr>
          <p:cNvSpPr>
            <a:spLocks noGrp="1"/>
          </p:cNvSpPr>
          <p:nvPr>
            <p:ph type="dt" sz="half" idx="10"/>
          </p:nvPr>
        </p:nvSpPr>
        <p:spPr/>
        <p:txBody>
          <a:bodyPr/>
          <a:lstStyle/>
          <a:p>
            <a:fld id="{A2A79179-D558-47D9-9528-812F1D75BA1A}" type="datetime1">
              <a:rPr lang="en-US" smtClean="0"/>
              <a:t>9/22/2026</a:t>
            </a:fld>
            <a:endParaRPr lang="en-US"/>
          </a:p>
        </p:txBody>
      </p:sp>
      <p:sp>
        <p:nvSpPr>
          <p:cNvPr id="8" name="Footer Placeholder 7">
            <a:extLst>
              <a:ext uri="{FF2B5EF4-FFF2-40B4-BE49-F238E27FC236}">
                <a16:creationId xmlns:a16="http://schemas.microsoft.com/office/drawing/2014/main" id="{A90C5119-4636-C6E6-8EF4-6E2A227B0F0D}"/>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E51001AE-B683-9170-E36A-F67DE32644D8}"/>
              </a:ext>
            </a:extLst>
          </p:cNvPr>
          <p:cNvSpPr>
            <a:spLocks noGrp="1"/>
          </p:cNvSpPr>
          <p:nvPr>
            <p:ph type="sldNum" sz="quarter" idx="12"/>
          </p:nvPr>
        </p:nvSpPr>
        <p:spPr/>
        <p:txBody>
          <a:bodyPr/>
          <a:lstStyle/>
          <a:p>
            <a:fld id="{099CF9D6-C8DD-42B2-8F38-039A05793DC1}" type="slidenum">
              <a:rPr lang="en-US" smtClean="0"/>
              <a:t>10</a:t>
            </a:fld>
            <a:endParaRPr lang="en-US"/>
          </a:p>
        </p:txBody>
      </p:sp>
    </p:spTree>
    <p:extLst>
      <p:ext uri="{BB962C8B-B14F-4D97-AF65-F5344CB8AC3E}">
        <p14:creationId xmlns:p14="http://schemas.microsoft.com/office/powerpoint/2010/main" val="2409853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8FBF-699A-5680-20B5-96A16BDCFBC9}"/>
              </a:ext>
            </a:extLst>
          </p:cNvPr>
          <p:cNvSpPr>
            <a:spLocks noGrp="1"/>
          </p:cNvSpPr>
          <p:nvPr>
            <p:ph type="title"/>
          </p:nvPr>
        </p:nvSpPr>
        <p:spPr>
          <a:xfrm>
            <a:off x="838200" y="282933"/>
            <a:ext cx="10515600" cy="580096"/>
          </a:xfrm>
        </p:spPr>
        <p:txBody>
          <a:bodyPr>
            <a:normAutofit fontScale="90000"/>
          </a:bodyPr>
          <a:lstStyle/>
          <a:p>
            <a:pPr algn="ctr"/>
            <a:r>
              <a:rPr lang="en-US" dirty="0"/>
              <a:t>0/1 Knapsack Problem</a:t>
            </a:r>
          </a:p>
        </p:txBody>
      </p:sp>
      <p:sp>
        <p:nvSpPr>
          <p:cNvPr id="3" name="Content Placeholder 2">
            <a:extLst>
              <a:ext uri="{FF2B5EF4-FFF2-40B4-BE49-F238E27FC236}">
                <a16:creationId xmlns:a16="http://schemas.microsoft.com/office/drawing/2014/main" id="{BD53B12D-7B3F-3E8B-1B3A-C1D940FE77D0}"/>
              </a:ext>
            </a:extLst>
          </p:cNvPr>
          <p:cNvSpPr>
            <a:spLocks noGrp="1"/>
          </p:cNvSpPr>
          <p:nvPr>
            <p:ph idx="1"/>
          </p:nvPr>
        </p:nvSpPr>
        <p:spPr>
          <a:xfrm>
            <a:off x="838200" y="863029"/>
            <a:ext cx="10689404" cy="5493321"/>
          </a:xfrm>
        </p:spPr>
        <p:txBody>
          <a:bodyPr>
            <a:normAutofit fontScale="92500" lnSpcReduction="20000"/>
          </a:bodyPr>
          <a:lstStyle/>
          <a:p>
            <a:pPr algn="just">
              <a:buNone/>
            </a:pPr>
            <a:r>
              <a:rPr lang="en-US" b="1" dirty="0"/>
              <a:t>Problem:</a:t>
            </a:r>
            <a:r>
              <a:rPr lang="en-US" dirty="0"/>
              <a:t> Given a set of items, each with a weight and a value, determine which items to include in a collection so that the total weight is less than or equal to a given capacity and the total value is as large as possible. Each item can either be included entirely (1) or not at all (0).</a:t>
            </a:r>
          </a:p>
          <a:p>
            <a:pPr algn="just">
              <a:buNone/>
            </a:pPr>
            <a:r>
              <a:rPr lang="en-US" b="1" dirty="0"/>
              <a:t>Explanation:</a:t>
            </a:r>
            <a:r>
              <a:rPr lang="en-US" dirty="0"/>
              <a:t> This is a classic DP problem. The solution is built on the decision of whether to include each item or not.</a:t>
            </a:r>
          </a:p>
          <a:p>
            <a:pPr algn="just">
              <a:buNone/>
            </a:pPr>
            <a:r>
              <a:rPr lang="en-US" b="1" dirty="0"/>
              <a:t>Algorithm:</a:t>
            </a:r>
            <a:endParaRPr lang="en-US" dirty="0"/>
          </a:p>
          <a:p>
            <a:pPr algn="just">
              <a:buFont typeface="+mj-lt"/>
              <a:buAutoNum type="arabicPeriod"/>
            </a:pPr>
            <a:r>
              <a:rPr lang="en-US" dirty="0"/>
              <a:t>Let there be n items and a knapsack capacity </a:t>
            </a:r>
            <a:r>
              <a:rPr lang="en-US" dirty="0">
                <a:effectLst/>
              </a:rPr>
              <a:t>W</a:t>
            </a:r>
            <a:r>
              <a:rPr lang="en-US" dirty="0"/>
              <a:t>.</a:t>
            </a:r>
          </a:p>
          <a:p>
            <a:pPr algn="just">
              <a:buFont typeface="+mj-lt"/>
              <a:buAutoNum type="arabicPeriod"/>
            </a:pPr>
            <a:r>
              <a:rPr lang="en-US" dirty="0"/>
              <a:t>Create a table </a:t>
            </a:r>
            <a:r>
              <a:rPr lang="en-US" dirty="0">
                <a:effectLst/>
              </a:rPr>
              <a:t>K</a:t>
            </a:r>
            <a:r>
              <a:rPr lang="en-US" dirty="0"/>
              <a:t>[n+1,</a:t>
            </a:r>
            <a:r>
              <a:rPr lang="en-US" dirty="0">
                <a:effectLst/>
              </a:rPr>
              <a:t>W</a:t>
            </a:r>
            <a:r>
              <a:rPr lang="en-US" dirty="0"/>
              <a:t>+1]. </a:t>
            </a:r>
            <a:r>
              <a:rPr lang="en-US" dirty="0">
                <a:effectLst/>
              </a:rPr>
              <a:t>K</a:t>
            </a:r>
            <a:r>
              <a:rPr lang="en-US" dirty="0"/>
              <a:t>[</a:t>
            </a:r>
            <a:r>
              <a:rPr lang="en-US" dirty="0" err="1"/>
              <a:t>i,</a:t>
            </a:r>
            <a:r>
              <a:rPr lang="en-US" dirty="0" err="1">
                <a:effectLst/>
              </a:rPr>
              <a:t>w</a:t>
            </a:r>
            <a:r>
              <a:rPr lang="en-US" dirty="0"/>
              <a:t>] will store the maximum value achievable with a knapsack of capacity </a:t>
            </a:r>
            <a:r>
              <a:rPr lang="en-US" dirty="0">
                <a:effectLst/>
              </a:rPr>
              <a:t>w</a:t>
            </a:r>
            <a:r>
              <a:rPr lang="en-US" dirty="0"/>
              <a:t> using items up to </a:t>
            </a:r>
            <a:r>
              <a:rPr lang="en-US" dirty="0" err="1"/>
              <a:t>i</a:t>
            </a:r>
            <a:r>
              <a:rPr lang="en-US" dirty="0"/>
              <a:t>.</a:t>
            </a:r>
          </a:p>
          <a:p>
            <a:pPr algn="just">
              <a:buFont typeface="+mj-lt"/>
              <a:buAutoNum type="arabicPeriod"/>
            </a:pPr>
            <a:r>
              <a:rPr lang="en-US" dirty="0"/>
              <a:t>The recurrence relation is:</a:t>
            </a:r>
          </a:p>
          <a:p>
            <a:pPr marL="742950" lvl="1" indent="-285750" algn="just">
              <a:buFont typeface="+mj-lt"/>
              <a:buAutoNum type="arabicPeriod"/>
            </a:pPr>
            <a:r>
              <a:rPr lang="en-US" dirty="0">
                <a:effectLst/>
              </a:rPr>
              <a:t>K</a:t>
            </a:r>
            <a:r>
              <a:rPr lang="en-US" dirty="0"/>
              <a:t>[</a:t>
            </a:r>
            <a:r>
              <a:rPr lang="en-US" dirty="0" err="1"/>
              <a:t>i,</a:t>
            </a:r>
            <a:r>
              <a:rPr lang="en-US" dirty="0" err="1">
                <a:effectLst/>
              </a:rPr>
              <a:t>w</a:t>
            </a:r>
            <a:r>
              <a:rPr lang="en-US" dirty="0"/>
              <a:t>]=</a:t>
            </a:r>
            <a:r>
              <a:rPr lang="en-US" dirty="0">
                <a:effectLst/>
              </a:rPr>
              <a:t>K</a:t>
            </a:r>
            <a:r>
              <a:rPr lang="en-US" dirty="0"/>
              <a:t>[i−1,</a:t>
            </a:r>
            <a:r>
              <a:rPr lang="en-US" dirty="0">
                <a:effectLst/>
              </a:rPr>
              <a:t>w</a:t>
            </a:r>
            <a:r>
              <a:rPr lang="en-US" dirty="0"/>
              <a:t>] if the </a:t>
            </a:r>
            <a:r>
              <a:rPr lang="en-US" dirty="0" err="1"/>
              <a:t>i</a:t>
            </a:r>
            <a:r>
              <a:rPr lang="en-US" dirty="0" err="1">
                <a:effectLst/>
              </a:rPr>
              <a:t>th</a:t>
            </a:r>
            <a:r>
              <a:rPr lang="en-US" dirty="0"/>
              <a:t> item's weight is greater than </a:t>
            </a:r>
            <a:r>
              <a:rPr lang="en-US" dirty="0">
                <a:effectLst/>
              </a:rPr>
              <a:t>w</a:t>
            </a:r>
            <a:r>
              <a:rPr lang="en-US" dirty="0"/>
              <a:t>.</a:t>
            </a:r>
          </a:p>
          <a:p>
            <a:pPr marL="742950" lvl="1" indent="-285750" algn="just">
              <a:buFont typeface="+mj-lt"/>
              <a:buAutoNum type="arabicPeriod"/>
            </a:pPr>
            <a:r>
              <a:rPr lang="en-US" dirty="0">
                <a:effectLst/>
              </a:rPr>
              <a:t>K</a:t>
            </a:r>
            <a:r>
              <a:rPr lang="en-US" dirty="0"/>
              <a:t>[</a:t>
            </a:r>
            <a:r>
              <a:rPr lang="en-US" dirty="0" err="1"/>
              <a:t>i,</a:t>
            </a:r>
            <a:r>
              <a:rPr lang="en-US" dirty="0" err="1">
                <a:effectLst/>
              </a:rPr>
              <a:t>w</a:t>
            </a:r>
            <a:r>
              <a:rPr lang="en-US" dirty="0"/>
              <a:t>]=max(</a:t>
            </a:r>
            <a:r>
              <a:rPr lang="en-US" dirty="0">
                <a:effectLst/>
              </a:rPr>
              <a:t>K</a:t>
            </a:r>
            <a:r>
              <a:rPr lang="en-US" dirty="0"/>
              <a:t>[i−1,</a:t>
            </a:r>
            <a:r>
              <a:rPr lang="en-US" dirty="0">
                <a:effectLst/>
              </a:rPr>
              <a:t>w</a:t>
            </a:r>
            <a:r>
              <a:rPr lang="en-US" dirty="0"/>
              <a:t>],</a:t>
            </a:r>
            <a:r>
              <a:rPr lang="en-US" dirty="0">
                <a:effectLst/>
              </a:rPr>
              <a:t>vi</a:t>
            </a:r>
            <a:r>
              <a:rPr lang="en-US" dirty="0"/>
              <a:t>​+</a:t>
            </a:r>
            <a:r>
              <a:rPr lang="en-US" dirty="0">
                <a:effectLst/>
              </a:rPr>
              <a:t>K</a:t>
            </a:r>
            <a:r>
              <a:rPr lang="en-US" dirty="0"/>
              <a:t>[i−1,</a:t>
            </a:r>
            <a:r>
              <a:rPr lang="en-US" dirty="0">
                <a:effectLst/>
              </a:rPr>
              <a:t>w</a:t>
            </a:r>
            <a:r>
              <a:rPr lang="en-US" dirty="0"/>
              <a:t>−</a:t>
            </a:r>
            <a:r>
              <a:rPr lang="en-US" dirty="0">
                <a:effectLst/>
              </a:rPr>
              <a:t>wi</a:t>
            </a:r>
            <a:r>
              <a:rPr lang="en-US" dirty="0"/>
              <a:t>​]) if the </a:t>
            </a:r>
            <a:r>
              <a:rPr lang="en-US" dirty="0" err="1"/>
              <a:t>i</a:t>
            </a:r>
            <a:r>
              <a:rPr lang="en-US" dirty="0" err="1">
                <a:effectLst/>
              </a:rPr>
              <a:t>th</a:t>
            </a:r>
            <a:r>
              <a:rPr lang="en-US" dirty="0"/>
              <a:t> item's weight is less than or equal to </a:t>
            </a:r>
            <a:r>
              <a:rPr lang="en-US" dirty="0">
                <a:effectLst/>
              </a:rPr>
              <a:t>w</a:t>
            </a:r>
            <a:r>
              <a:rPr lang="en-US" dirty="0"/>
              <a:t>.</a:t>
            </a:r>
          </a:p>
          <a:p>
            <a:pPr algn="just">
              <a:buFont typeface="+mj-lt"/>
              <a:buAutoNum type="arabicPeriod"/>
            </a:pPr>
            <a:r>
              <a:rPr lang="en-US" dirty="0"/>
              <a:t>The base cases are </a:t>
            </a:r>
            <a:r>
              <a:rPr lang="en-US" dirty="0">
                <a:effectLst/>
              </a:rPr>
              <a:t>K</a:t>
            </a:r>
            <a:r>
              <a:rPr lang="en-US" dirty="0"/>
              <a:t>[0,</a:t>
            </a:r>
            <a:r>
              <a:rPr lang="en-US" dirty="0">
                <a:effectLst/>
              </a:rPr>
              <a:t>w</a:t>
            </a:r>
            <a:r>
              <a:rPr lang="en-US" dirty="0"/>
              <a:t>]=0 and </a:t>
            </a:r>
            <a:r>
              <a:rPr lang="en-US" dirty="0">
                <a:effectLst/>
              </a:rPr>
              <a:t>K</a:t>
            </a:r>
            <a:r>
              <a:rPr lang="en-US" dirty="0"/>
              <a:t>[i,0]=0.</a:t>
            </a:r>
          </a:p>
          <a:p>
            <a:pPr algn="just">
              <a:buFont typeface="+mj-lt"/>
              <a:buAutoNum type="arabicPeriod"/>
            </a:pPr>
            <a:r>
              <a:rPr lang="en-US" dirty="0"/>
              <a:t>The final value </a:t>
            </a:r>
            <a:r>
              <a:rPr lang="en-US" dirty="0">
                <a:effectLst/>
              </a:rPr>
              <a:t>K</a:t>
            </a:r>
            <a:r>
              <a:rPr lang="en-US" dirty="0"/>
              <a:t>[</a:t>
            </a:r>
            <a:r>
              <a:rPr lang="en-US" dirty="0" err="1"/>
              <a:t>n,</a:t>
            </a:r>
            <a:r>
              <a:rPr lang="en-US" dirty="0" err="1">
                <a:effectLst/>
              </a:rPr>
              <a:t>W</a:t>
            </a:r>
            <a:r>
              <a:rPr lang="en-US" dirty="0"/>
              <a:t>] gives the maximum value.</a:t>
            </a:r>
          </a:p>
        </p:txBody>
      </p:sp>
      <p:sp>
        <p:nvSpPr>
          <p:cNvPr id="7" name="Date Placeholder 6">
            <a:extLst>
              <a:ext uri="{FF2B5EF4-FFF2-40B4-BE49-F238E27FC236}">
                <a16:creationId xmlns:a16="http://schemas.microsoft.com/office/drawing/2014/main" id="{3A0636B5-8AD1-4846-8CB0-BACC910B5C55}"/>
              </a:ext>
            </a:extLst>
          </p:cNvPr>
          <p:cNvSpPr>
            <a:spLocks noGrp="1"/>
          </p:cNvSpPr>
          <p:nvPr>
            <p:ph type="dt" sz="half" idx="10"/>
          </p:nvPr>
        </p:nvSpPr>
        <p:spPr/>
        <p:txBody>
          <a:bodyPr/>
          <a:lstStyle/>
          <a:p>
            <a:fld id="{C07C8861-64C5-43BE-8F7B-1A7761A764AE}" type="datetime1">
              <a:rPr lang="en-US" smtClean="0"/>
              <a:t>9/22/2026</a:t>
            </a:fld>
            <a:endParaRPr lang="en-US"/>
          </a:p>
        </p:txBody>
      </p:sp>
      <p:sp>
        <p:nvSpPr>
          <p:cNvPr id="8" name="Footer Placeholder 7">
            <a:extLst>
              <a:ext uri="{FF2B5EF4-FFF2-40B4-BE49-F238E27FC236}">
                <a16:creationId xmlns:a16="http://schemas.microsoft.com/office/drawing/2014/main" id="{7DB1857D-EDF8-2634-CD71-95A2DB72DFCC}"/>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8793098B-CCBF-A8A4-AA73-57798B7DC2FB}"/>
              </a:ext>
            </a:extLst>
          </p:cNvPr>
          <p:cNvSpPr>
            <a:spLocks noGrp="1"/>
          </p:cNvSpPr>
          <p:nvPr>
            <p:ph type="sldNum" sz="quarter" idx="12"/>
          </p:nvPr>
        </p:nvSpPr>
        <p:spPr/>
        <p:txBody>
          <a:bodyPr/>
          <a:lstStyle/>
          <a:p>
            <a:fld id="{099CF9D6-C8DD-42B2-8F38-039A05793DC1}" type="slidenum">
              <a:rPr lang="en-US" smtClean="0"/>
              <a:t>11</a:t>
            </a:fld>
            <a:endParaRPr lang="en-US"/>
          </a:p>
        </p:txBody>
      </p:sp>
    </p:spTree>
    <p:extLst>
      <p:ext uri="{BB962C8B-B14F-4D97-AF65-F5344CB8AC3E}">
        <p14:creationId xmlns:p14="http://schemas.microsoft.com/office/powerpoint/2010/main" val="1445854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C58F5-4E10-1FBA-CE27-12F1D2D72622}"/>
              </a:ext>
            </a:extLst>
          </p:cNvPr>
          <p:cNvSpPr>
            <a:spLocks noGrp="1"/>
          </p:cNvSpPr>
          <p:nvPr>
            <p:ph type="title"/>
          </p:nvPr>
        </p:nvSpPr>
        <p:spPr>
          <a:xfrm>
            <a:off x="838200" y="365126"/>
            <a:ext cx="10515600" cy="1032160"/>
          </a:xfrm>
        </p:spPr>
        <p:txBody>
          <a:bodyPr>
            <a:normAutofit/>
          </a:bodyPr>
          <a:lstStyle/>
          <a:p>
            <a:pPr algn="ctr"/>
            <a:r>
              <a:rPr lang="en-US" dirty="0"/>
              <a:t>Example: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0/1 Knapsack Problem</a:t>
            </a:r>
            <a:endParaRPr lang="en-US" dirty="0"/>
          </a:p>
        </p:txBody>
      </p:sp>
      <p:sp>
        <p:nvSpPr>
          <p:cNvPr id="7" name="Date Placeholder 6">
            <a:extLst>
              <a:ext uri="{FF2B5EF4-FFF2-40B4-BE49-F238E27FC236}">
                <a16:creationId xmlns:a16="http://schemas.microsoft.com/office/drawing/2014/main" id="{48118B70-64E2-3F42-1F80-88EA9EF3C418}"/>
              </a:ext>
            </a:extLst>
          </p:cNvPr>
          <p:cNvSpPr>
            <a:spLocks noGrp="1"/>
          </p:cNvSpPr>
          <p:nvPr>
            <p:ph type="dt" sz="half" idx="10"/>
          </p:nvPr>
        </p:nvSpPr>
        <p:spPr/>
        <p:txBody>
          <a:bodyPr/>
          <a:lstStyle/>
          <a:p>
            <a:fld id="{EA69CE28-8D42-4716-A846-3C713C562F80}" type="datetime1">
              <a:rPr lang="en-US" smtClean="0"/>
              <a:t>9/22/2026</a:t>
            </a:fld>
            <a:endParaRPr lang="en-US"/>
          </a:p>
        </p:txBody>
      </p:sp>
      <p:sp>
        <p:nvSpPr>
          <p:cNvPr id="8" name="Footer Placeholder 7">
            <a:extLst>
              <a:ext uri="{FF2B5EF4-FFF2-40B4-BE49-F238E27FC236}">
                <a16:creationId xmlns:a16="http://schemas.microsoft.com/office/drawing/2014/main" id="{22E947C9-CC10-FCF1-2850-6E504B2C1B33}"/>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EB69C97D-FF8C-63C5-2D81-8CEC2E821EB3}"/>
              </a:ext>
            </a:extLst>
          </p:cNvPr>
          <p:cNvSpPr>
            <a:spLocks noGrp="1"/>
          </p:cNvSpPr>
          <p:nvPr>
            <p:ph type="sldNum" sz="quarter" idx="12"/>
          </p:nvPr>
        </p:nvSpPr>
        <p:spPr/>
        <p:txBody>
          <a:bodyPr/>
          <a:lstStyle/>
          <a:p>
            <a:fld id="{099CF9D6-C8DD-42B2-8F38-039A05793DC1}" type="slidenum">
              <a:rPr lang="en-US" smtClean="0"/>
              <a:t>12</a:t>
            </a:fld>
            <a:endParaRPr lang="en-US"/>
          </a:p>
        </p:txBody>
      </p:sp>
      <p:sp>
        <p:nvSpPr>
          <p:cNvPr id="5" name="Content Placeholder 4">
            <a:extLst>
              <a:ext uri="{FF2B5EF4-FFF2-40B4-BE49-F238E27FC236}">
                <a16:creationId xmlns:a16="http://schemas.microsoft.com/office/drawing/2014/main" id="{6C0343F0-95FA-3157-D5DE-3D1A71FD7C14}"/>
              </a:ext>
            </a:extLst>
          </p:cNvPr>
          <p:cNvSpPr>
            <a:spLocks noGrp="1"/>
          </p:cNvSpPr>
          <p:nvPr>
            <p:ph idx="1"/>
          </p:nvPr>
        </p:nvSpPr>
        <p:spPr>
          <a:xfrm>
            <a:off x="838200" y="1212351"/>
            <a:ext cx="10515600" cy="4964612"/>
          </a:xfrm>
        </p:spPr>
        <p:txBody>
          <a:bodyPr>
            <a:normAutofit fontScale="92500" lnSpcReduction="10000"/>
          </a:bodyPr>
          <a:lstStyle/>
          <a:p>
            <a:pPr>
              <a:buFont typeface="Arial" panose="020B0604020202020204" pitchFamily="34" charset="0"/>
              <a:buChar char="•"/>
            </a:pPr>
            <a:r>
              <a:rPr lang="en-US" b="1" dirty="0"/>
              <a:t>Items:</a:t>
            </a:r>
            <a:endParaRPr lang="en-US" dirty="0"/>
          </a:p>
          <a:p>
            <a:pPr marL="742950" lvl="1" indent="-285750">
              <a:buFont typeface="Arial" panose="020B0604020202020204" pitchFamily="34" charset="0"/>
              <a:buChar char="•"/>
            </a:pPr>
            <a:r>
              <a:rPr lang="en-US" dirty="0"/>
              <a:t>Item 1: </a:t>
            </a:r>
            <a:r>
              <a:rPr lang="en-US" dirty="0">
                <a:effectLst/>
              </a:rPr>
              <a:t>v</a:t>
            </a:r>
            <a:r>
              <a:rPr lang="en-US" dirty="0"/>
              <a:t>=60,</a:t>
            </a:r>
            <a:r>
              <a:rPr lang="en-US" dirty="0">
                <a:effectLst/>
              </a:rPr>
              <a:t>w</a:t>
            </a:r>
            <a:r>
              <a:rPr lang="en-US" dirty="0"/>
              <a:t>=10</a:t>
            </a:r>
          </a:p>
          <a:p>
            <a:pPr marL="742950" lvl="1" indent="-285750">
              <a:buFont typeface="Arial" panose="020B0604020202020204" pitchFamily="34" charset="0"/>
              <a:buChar char="•"/>
            </a:pPr>
            <a:r>
              <a:rPr lang="en-US" dirty="0"/>
              <a:t>Item 2: </a:t>
            </a:r>
            <a:r>
              <a:rPr lang="en-US" dirty="0">
                <a:effectLst/>
              </a:rPr>
              <a:t>v</a:t>
            </a:r>
            <a:r>
              <a:rPr lang="en-US" dirty="0"/>
              <a:t>=100,</a:t>
            </a:r>
            <a:r>
              <a:rPr lang="en-US" dirty="0">
                <a:effectLst/>
              </a:rPr>
              <a:t>w</a:t>
            </a:r>
            <a:r>
              <a:rPr lang="en-US" dirty="0"/>
              <a:t>=20</a:t>
            </a:r>
          </a:p>
          <a:p>
            <a:pPr marL="742950" lvl="1" indent="-285750">
              <a:buFont typeface="Arial" panose="020B0604020202020204" pitchFamily="34" charset="0"/>
              <a:buChar char="•"/>
            </a:pPr>
            <a:r>
              <a:rPr lang="en-US" dirty="0"/>
              <a:t>Item 3: </a:t>
            </a:r>
            <a:r>
              <a:rPr lang="en-US" dirty="0">
                <a:effectLst/>
              </a:rPr>
              <a:t>v</a:t>
            </a:r>
            <a:r>
              <a:rPr lang="en-US" dirty="0"/>
              <a:t>=120,</a:t>
            </a:r>
            <a:r>
              <a:rPr lang="en-US" dirty="0">
                <a:effectLst/>
              </a:rPr>
              <a:t>w</a:t>
            </a:r>
            <a:r>
              <a:rPr lang="en-US" dirty="0"/>
              <a:t>=30</a:t>
            </a:r>
          </a:p>
          <a:p>
            <a:pPr>
              <a:buFont typeface="Arial" panose="020B0604020202020204" pitchFamily="34" charset="0"/>
              <a:buChar char="•"/>
            </a:pPr>
            <a:r>
              <a:rPr lang="en-US" b="1" dirty="0"/>
              <a:t>Knapsack Capacity:</a:t>
            </a:r>
            <a:r>
              <a:rPr lang="en-US" dirty="0"/>
              <a:t> </a:t>
            </a:r>
            <a:r>
              <a:rPr lang="en-US" dirty="0">
                <a:effectLst/>
              </a:rPr>
              <a:t>W</a:t>
            </a:r>
            <a:r>
              <a:rPr lang="en-US" dirty="0"/>
              <a:t>=50</a:t>
            </a:r>
          </a:p>
          <a:p>
            <a:pPr>
              <a:buNone/>
            </a:pPr>
            <a:r>
              <a:rPr lang="en-US" b="1" dirty="0"/>
              <a:t>Solution:</a:t>
            </a:r>
            <a:endParaRPr lang="en-US" dirty="0"/>
          </a:p>
          <a:p>
            <a:pPr>
              <a:buFont typeface="Arial" panose="020B0604020202020204" pitchFamily="34" charset="0"/>
              <a:buChar char="•"/>
            </a:pPr>
            <a:r>
              <a:rPr lang="en-US" dirty="0"/>
              <a:t>We build a table of size 4×51.</a:t>
            </a:r>
          </a:p>
          <a:p>
            <a:pPr>
              <a:buFont typeface="Arial" panose="020B0604020202020204" pitchFamily="34" charset="0"/>
              <a:buChar char="•"/>
            </a:pPr>
            <a:r>
              <a:rPr lang="en-US" dirty="0"/>
              <a:t>The table is filled row by row, considering one item at a time and a capacity from 0 to 50.</a:t>
            </a:r>
          </a:p>
          <a:p>
            <a:pPr>
              <a:buFont typeface="Arial" panose="020B0604020202020204" pitchFamily="34" charset="0"/>
              <a:buChar char="•"/>
            </a:pPr>
            <a:r>
              <a:rPr lang="en-US" dirty="0"/>
              <a:t>For Item 1 (w=10, v=60), for any capacity </a:t>
            </a:r>
            <a:r>
              <a:rPr lang="en-US" dirty="0">
                <a:effectLst/>
              </a:rPr>
              <a:t>w</a:t>
            </a:r>
            <a:r>
              <a:rPr lang="en-US" dirty="0"/>
              <a:t>≥10, we choose max(</a:t>
            </a:r>
            <a:r>
              <a:rPr lang="en-US" dirty="0">
                <a:effectLst/>
              </a:rPr>
              <a:t>K</a:t>
            </a:r>
            <a:r>
              <a:rPr lang="en-US" dirty="0"/>
              <a:t>[0,</a:t>
            </a:r>
            <a:r>
              <a:rPr lang="en-US" dirty="0">
                <a:effectLst/>
              </a:rPr>
              <a:t>w</a:t>
            </a:r>
            <a:r>
              <a:rPr lang="en-US" dirty="0"/>
              <a:t>],60+</a:t>
            </a:r>
            <a:r>
              <a:rPr lang="en-US" dirty="0">
                <a:effectLst/>
              </a:rPr>
              <a:t>K</a:t>
            </a:r>
            <a:r>
              <a:rPr lang="en-US" dirty="0"/>
              <a:t>[0,</a:t>
            </a:r>
            <a:r>
              <a:rPr lang="en-US" dirty="0">
                <a:effectLst/>
              </a:rPr>
              <a:t>w</a:t>
            </a:r>
            <a:r>
              <a:rPr lang="en-US" dirty="0"/>
              <a:t>−10]).</a:t>
            </a:r>
          </a:p>
          <a:p>
            <a:pPr>
              <a:buFont typeface="Arial" panose="020B0604020202020204" pitchFamily="34" charset="0"/>
              <a:buChar char="•"/>
            </a:pPr>
            <a:r>
              <a:rPr lang="en-US" dirty="0"/>
              <a:t>The final cell </a:t>
            </a:r>
            <a:r>
              <a:rPr lang="en-US" dirty="0">
                <a:effectLst/>
              </a:rPr>
              <a:t>K</a:t>
            </a:r>
            <a:r>
              <a:rPr lang="en-US" dirty="0"/>
              <a:t>[3,50] will contain the answer.</a:t>
            </a:r>
          </a:p>
          <a:p>
            <a:pPr marL="0" indent="0">
              <a:buNone/>
            </a:pPr>
            <a:endParaRPr lang="en-US" dirty="0"/>
          </a:p>
        </p:txBody>
      </p:sp>
    </p:spTree>
    <p:extLst>
      <p:ext uri="{BB962C8B-B14F-4D97-AF65-F5344CB8AC3E}">
        <p14:creationId xmlns:p14="http://schemas.microsoft.com/office/powerpoint/2010/main" val="3653556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9685-0693-5DBA-F6A2-E5DC144A725C}"/>
              </a:ext>
            </a:extLst>
          </p:cNvPr>
          <p:cNvSpPr>
            <a:spLocks noGrp="1"/>
          </p:cNvSpPr>
          <p:nvPr>
            <p:ph type="title"/>
          </p:nvPr>
        </p:nvSpPr>
        <p:spPr>
          <a:xfrm>
            <a:off x="838200" y="365125"/>
            <a:ext cx="10515600" cy="785581"/>
          </a:xfrm>
        </p:spPr>
        <p:txBody>
          <a:bodyPr/>
          <a:lstStyle/>
          <a:p>
            <a:pPr algn="ctr"/>
            <a:r>
              <a:rPr lang="en-US" dirty="0"/>
              <a:t>Suggestive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A18358-C6B2-4D47-3748-1004F4D3C81E}"/>
                  </a:ext>
                </a:extLst>
              </p:cNvPr>
              <p:cNvSpPr>
                <a:spLocks noGrp="1"/>
              </p:cNvSpPr>
              <p:nvPr>
                <p:ph idx="1"/>
              </p:nvPr>
            </p:nvSpPr>
            <p:spPr>
              <a:xfrm>
                <a:off x="729465" y="1263721"/>
                <a:ext cx="10828961" cy="4913242"/>
              </a:xfrm>
            </p:spPr>
            <p:txBody>
              <a:bodyPr>
                <a:normAutofit lnSpcReduction="10000"/>
              </a:bodyPr>
              <a:lstStyle/>
              <a:p>
                <a:pPr marL="0" indent="0" algn="just">
                  <a:buNone/>
                </a:pPr>
                <a:r>
                  <a:rPr lang="en-US" b="1" dirty="0"/>
                  <a:t>Matrix Chain Multiplication</a:t>
                </a:r>
              </a:p>
              <a:p>
                <a:pPr marL="514350" indent="-514350" algn="just">
                  <a:buFont typeface="+mj-lt"/>
                  <a:buAutoNum type="arabicPeriod"/>
                </a:pPr>
                <a:r>
                  <a:rPr lang="en-US" dirty="0"/>
                  <a:t>What is the time complexity of the standard (naive) recursive solution for Matrix Chain Multiplication?</a:t>
                </a:r>
              </a:p>
              <a:p>
                <a:pPr marL="514350" indent="-514350" algn="just">
                  <a:buFont typeface="+mj-lt"/>
                  <a:buAutoNum type="arabicPeriod"/>
                </a:pPr>
                <a:r>
                  <a:rPr lang="en-US" dirty="0"/>
                  <a:t>What property of matrix multiplication allows for different parenthesization?</a:t>
                </a:r>
              </a:p>
              <a:p>
                <a:pPr marL="514350" indent="-514350" algn="just">
                  <a:buFont typeface="+mj-lt"/>
                  <a:buAutoNum type="arabicPeriod"/>
                </a:pPr>
                <a:r>
                  <a:rPr lang="en-US" dirty="0"/>
                  <a:t>Given a chain of four matrices with dimensions 10×20, 20×5, 5×15, and 15×25, what is the cost of the parenthesization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14:m>
                  <m:oMath xmlns:m="http://schemas.openxmlformats.org/officeDocument/2006/math">
                    <m:sSub>
                      <m:sSubPr>
                        <m:ctrlP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rPr>
                          <m:t>𝐴</m:t>
                        </m:r>
                      </m:e>
                      <m:sub>
                        <m: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rPr>
                          <m:t>1</m:t>
                        </m:r>
                      </m:sub>
                    </m:sSub>
                    <m: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prstClr val="black"/>
                    </a:solidFill>
                    <a:effectLst/>
                    <a:uLnTx/>
                    <a:uFillTx/>
                    <a:latin typeface="Calibri" panose="020F0502020204030204"/>
                  </a:rPr>
                  <a:t>​× </a:t>
                </a:r>
                <a14:m>
                  <m:oMath xmlns:m="http://schemas.openxmlformats.org/officeDocument/2006/math">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𝐴</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2</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rPr>
                  <a:t>​× </a:t>
                </a:r>
                <a14:m>
                  <m:oMath xmlns:m="http://schemas.openxmlformats.org/officeDocument/2006/math">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𝐴</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𝐴</m:t>
                        </m:r>
                      </m:e>
                      <m:sub>
                        <m:r>
                          <a:rPr lang="en-US" sz="2400" b="0" i="1" smtClean="0">
                            <a:solidFill>
                              <a:prstClr val="black"/>
                            </a:solidFill>
                            <a:latin typeface="Cambria Math" panose="02040503050406030204" pitchFamily="18" charset="0"/>
                          </a:rPr>
                          <m:t>4</m:t>
                        </m:r>
                      </m:sub>
                    </m:sSub>
                  </m:oMath>
                </a14:m>
                <a:r>
                  <a:rPr lang="en-US" sz="2400" dirty="0"/>
                  <a:t>​?</a:t>
                </a:r>
              </a:p>
              <a:p>
                <a:pPr marL="514350" indent="-514350" algn="just">
                  <a:buFont typeface="+mj-lt"/>
                  <a:buAutoNum type="arabicPeriod"/>
                </a:pPr>
                <a:r>
                  <a:rPr lang="en-US" dirty="0"/>
                  <a:t>Given four matrices with dimensions </a:t>
                </a:r>
                <a14:m>
                  <m:oMath xmlns:m="http://schemas.openxmlformats.org/officeDocument/2006/math">
                    <m:sSub>
                      <m:sSubPr>
                        <m:ctrlP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𝐴</m:t>
                        </m:r>
                      </m:e>
                      <m:sub>
                        <m:r>
                          <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1</m:t>
                        </m:r>
                      </m:sub>
                    </m:sSub>
                  </m:oMath>
                </a14:m>
                <a:r>
                  <a:rPr lang="en-US" dirty="0"/>
                  <a:t>(30×35), </a:t>
                </a:r>
                <a14:m>
                  <m:oMath xmlns:m="http://schemas.openxmlformats.org/officeDocument/2006/math">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𝐴</m:t>
                        </m:r>
                      </m:e>
                      <m:sub>
                        <m:r>
                          <a:rPr lang="en-US" sz="2400" i="1">
                            <a:solidFill>
                              <a:prstClr val="black"/>
                            </a:solidFill>
                            <a:latin typeface="Cambria Math" panose="02040503050406030204" pitchFamily="18" charset="0"/>
                          </a:rPr>
                          <m:t>2</m:t>
                        </m:r>
                      </m:sub>
                    </m:sSub>
                    <m:r>
                      <a:rPr lang="en-US" sz="2400" i="1">
                        <a:solidFill>
                          <a:prstClr val="black"/>
                        </a:solidFill>
                        <a:latin typeface="Cambria Math" panose="02040503050406030204" pitchFamily="18" charset="0"/>
                      </a:rPr>
                      <m:t> </m:t>
                    </m:r>
                  </m:oMath>
                </a14:m>
                <a:r>
                  <a:rPr lang="en-US" dirty="0"/>
                  <a:t>​(35×15), </a:t>
                </a:r>
                <a14:m>
                  <m:oMath xmlns:m="http://schemas.openxmlformats.org/officeDocument/2006/math">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𝐴</m:t>
                        </m:r>
                      </m:e>
                      <m:sub>
                        <m:r>
                          <a:rPr lang="en-US" sz="2400" i="1">
                            <a:solidFill>
                              <a:prstClr val="black"/>
                            </a:solidFill>
                            <a:latin typeface="Cambria Math" panose="02040503050406030204" pitchFamily="18" charset="0"/>
                          </a:rPr>
                          <m:t>3</m:t>
                        </m:r>
                      </m:sub>
                    </m:sSub>
                    <m:r>
                      <a:rPr lang="en-US" sz="2400" i="1">
                        <a:solidFill>
                          <a:prstClr val="black"/>
                        </a:solidFill>
                        <a:latin typeface="Cambria Math" panose="02040503050406030204" pitchFamily="18" charset="0"/>
                      </a:rPr>
                      <m:t> </m:t>
                    </m:r>
                  </m:oMath>
                </a14:m>
                <a:r>
                  <a:rPr lang="en-US" dirty="0"/>
                  <a:t>​(15×5), and </a:t>
                </a:r>
                <a14:m>
                  <m:oMath xmlns:m="http://schemas.openxmlformats.org/officeDocument/2006/math">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𝐴</m:t>
                        </m:r>
                      </m:e>
                      <m:sub>
                        <m:r>
                          <a:rPr lang="en-US" sz="2400" i="1">
                            <a:solidFill>
                              <a:prstClr val="black"/>
                            </a:solidFill>
                            <a:latin typeface="Cambria Math" panose="02040503050406030204" pitchFamily="18" charset="0"/>
                          </a:rPr>
                          <m:t>4</m:t>
                        </m:r>
                      </m:sub>
                    </m:sSub>
                    <m:r>
                      <a:rPr lang="en-US" sz="2400" i="1">
                        <a:solidFill>
                          <a:prstClr val="black"/>
                        </a:solidFill>
                        <a:latin typeface="Cambria Math" panose="02040503050406030204" pitchFamily="18" charset="0"/>
                      </a:rPr>
                      <m:t> </m:t>
                    </m:r>
                  </m:oMath>
                </a14:m>
                <a:r>
                  <a:rPr lang="en-US" dirty="0"/>
                  <a:t>​(5×10), use the dynamic programming algorithm to find the minimum number of scalar multiplications required. Show the full DP table and the final optimal parenthesization.</a:t>
                </a:r>
              </a:p>
            </p:txBody>
          </p:sp>
        </mc:Choice>
        <mc:Fallback xmlns="">
          <p:sp>
            <p:nvSpPr>
              <p:cNvPr id="3" name="Content Placeholder 2">
                <a:extLst>
                  <a:ext uri="{FF2B5EF4-FFF2-40B4-BE49-F238E27FC236}">
                    <a16:creationId xmlns:a16="http://schemas.microsoft.com/office/drawing/2014/main" id="{8CA18358-C6B2-4D47-3748-1004F4D3C81E}"/>
                  </a:ext>
                </a:extLst>
              </p:cNvPr>
              <p:cNvSpPr>
                <a:spLocks noGrp="1" noRot="1" noChangeAspect="1" noMove="1" noResize="1" noEditPoints="1" noAdjustHandles="1" noChangeArrowheads="1" noChangeShapeType="1" noTextEdit="1"/>
              </p:cNvSpPr>
              <p:nvPr>
                <p:ph idx="1"/>
              </p:nvPr>
            </p:nvSpPr>
            <p:spPr>
              <a:xfrm>
                <a:off x="729465" y="1263721"/>
                <a:ext cx="10828961" cy="4913242"/>
              </a:xfrm>
              <a:blipFill>
                <a:blip r:embed="rId2"/>
                <a:stretch>
                  <a:fillRect l="-1182" t="-2730" r="-1126"/>
                </a:stretch>
              </a:blipFill>
            </p:spPr>
            <p:txBody>
              <a:bodyPr/>
              <a:lstStyle/>
              <a:p>
                <a:r>
                  <a:rPr lang="en-US">
                    <a:noFill/>
                  </a:rPr>
                  <a:t> </a:t>
                </a:r>
              </a:p>
            </p:txBody>
          </p:sp>
        </mc:Fallback>
      </mc:AlternateContent>
      <p:sp>
        <p:nvSpPr>
          <p:cNvPr id="7" name="Date Placeholder 6">
            <a:extLst>
              <a:ext uri="{FF2B5EF4-FFF2-40B4-BE49-F238E27FC236}">
                <a16:creationId xmlns:a16="http://schemas.microsoft.com/office/drawing/2014/main" id="{085E35E7-8AA4-DD7E-45AA-9D897EDE07D6}"/>
              </a:ext>
            </a:extLst>
          </p:cNvPr>
          <p:cNvSpPr>
            <a:spLocks noGrp="1"/>
          </p:cNvSpPr>
          <p:nvPr>
            <p:ph type="dt" sz="half" idx="10"/>
          </p:nvPr>
        </p:nvSpPr>
        <p:spPr/>
        <p:txBody>
          <a:bodyPr/>
          <a:lstStyle/>
          <a:p>
            <a:fld id="{2D544B9C-7B0D-40F5-844B-E8254E54A974}" type="datetime1">
              <a:rPr lang="en-US" smtClean="0"/>
              <a:t>9/22/2026</a:t>
            </a:fld>
            <a:endParaRPr lang="en-US"/>
          </a:p>
        </p:txBody>
      </p:sp>
      <p:sp>
        <p:nvSpPr>
          <p:cNvPr id="8" name="Footer Placeholder 7">
            <a:extLst>
              <a:ext uri="{FF2B5EF4-FFF2-40B4-BE49-F238E27FC236}">
                <a16:creationId xmlns:a16="http://schemas.microsoft.com/office/drawing/2014/main" id="{CCF8F007-1F2E-EDE0-0FC3-9338309F1903}"/>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22542640-8A03-EF47-29C3-94376CE148C9}"/>
              </a:ext>
            </a:extLst>
          </p:cNvPr>
          <p:cNvSpPr>
            <a:spLocks noGrp="1"/>
          </p:cNvSpPr>
          <p:nvPr>
            <p:ph type="sldNum" sz="quarter" idx="12"/>
          </p:nvPr>
        </p:nvSpPr>
        <p:spPr/>
        <p:txBody>
          <a:bodyPr/>
          <a:lstStyle/>
          <a:p>
            <a:fld id="{099CF9D6-C8DD-42B2-8F38-039A05793DC1}" type="slidenum">
              <a:rPr lang="en-US" smtClean="0"/>
              <a:t>13</a:t>
            </a:fld>
            <a:endParaRPr lang="en-US"/>
          </a:p>
        </p:txBody>
      </p:sp>
    </p:spTree>
    <p:extLst>
      <p:ext uri="{BB962C8B-B14F-4D97-AF65-F5344CB8AC3E}">
        <p14:creationId xmlns:p14="http://schemas.microsoft.com/office/powerpoint/2010/main" val="1914009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42020-481A-27FA-DDEE-80402446C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C9FEF-CEFB-7B72-0477-2B5A78E963BC}"/>
              </a:ext>
            </a:extLst>
          </p:cNvPr>
          <p:cNvSpPr>
            <a:spLocks noGrp="1"/>
          </p:cNvSpPr>
          <p:nvPr>
            <p:ph type="title"/>
          </p:nvPr>
        </p:nvSpPr>
        <p:spPr>
          <a:xfrm>
            <a:off x="838200" y="365126"/>
            <a:ext cx="10515600" cy="621194"/>
          </a:xfrm>
        </p:spPr>
        <p:txBody>
          <a:bodyPr>
            <a:normAutofit fontScale="90000"/>
          </a:bodyPr>
          <a:lstStyle/>
          <a:p>
            <a:pPr algn="ctr"/>
            <a:r>
              <a:rPr lang="en-US" dirty="0"/>
              <a:t>Suggestive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148854-1918-68C1-0B9D-2D37A412E86F}"/>
                  </a:ext>
                </a:extLst>
              </p:cNvPr>
              <p:cNvSpPr>
                <a:spLocks noGrp="1"/>
              </p:cNvSpPr>
              <p:nvPr>
                <p:ph idx="1"/>
              </p:nvPr>
            </p:nvSpPr>
            <p:spPr>
              <a:xfrm>
                <a:off x="729465" y="1078787"/>
                <a:ext cx="10828961" cy="5098176"/>
              </a:xfrm>
            </p:spPr>
            <p:txBody>
              <a:bodyPr>
                <a:normAutofit fontScale="92500" lnSpcReduction="20000"/>
              </a:bodyPr>
              <a:lstStyle/>
              <a:p>
                <a:pPr marL="0" indent="0" algn="just">
                  <a:buNone/>
                </a:pPr>
                <a:r>
                  <a:rPr lang="en-US" b="1" dirty="0"/>
                  <a:t>All-Pairs Shortest Paths</a:t>
                </a:r>
              </a:p>
              <a:p>
                <a:pPr marL="514350" indent="-514350" algn="just">
                  <a:buFont typeface="+mj-lt"/>
                  <a:buAutoNum type="arabicPeriod"/>
                </a:pPr>
                <a:r>
                  <a:rPr lang="en-US" dirty="0"/>
                  <a:t>What is the time complexity of the Floyd-</a:t>
                </a:r>
                <a:r>
                  <a:rPr lang="en-US" dirty="0" err="1"/>
                  <a:t>Warshall</a:t>
                </a:r>
                <a:r>
                  <a:rPr lang="en-US" dirty="0"/>
                  <a:t> algorithm for a graph with n vertices?</a:t>
                </a:r>
              </a:p>
              <a:p>
                <a:pPr marL="514350" indent="-514350" algn="just">
                  <a:buFont typeface="+mj-lt"/>
                  <a:buAutoNum type="arabicPeriod"/>
                </a:pPr>
                <a:r>
                  <a:rPr lang="en-US" dirty="0"/>
                  <a:t>What type of edge weights is the Floyd-</a:t>
                </a:r>
                <a:r>
                  <a:rPr lang="en-US" dirty="0" err="1"/>
                  <a:t>Warshall</a:t>
                </a:r>
                <a:r>
                  <a:rPr lang="en-US" dirty="0"/>
                  <a:t> algorithm suitable for?</a:t>
                </a:r>
              </a:p>
              <a:p>
                <a:pPr marL="514350" indent="-514350" algn="just">
                  <a:buFont typeface="+mj-lt"/>
                  <a:buAutoNum type="arabicPeriod"/>
                </a:pPr>
                <a:r>
                  <a:rPr lang="en-US" dirty="0"/>
                  <a:t>Given a graph with 3 vertices and the following adjacency matrix, what is the distance matrix after one iteration of the Floyd-</a:t>
                </a:r>
                <a:r>
                  <a:rPr lang="en-US" dirty="0" err="1"/>
                  <a:t>Warshall</a:t>
                </a:r>
                <a:r>
                  <a:rPr lang="en-US" dirty="0"/>
                  <a:t> algorithm (with k=1)?</a:t>
                </a:r>
              </a:p>
              <a:p>
                <a:pPr marL="0" indent="0" algn="just">
                  <a:buNone/>
                </a:pPr>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0</m:t>
                        </m:r>
                      </m:sup>
                    </m:sSup>
                  </m:oMath>
                </a14:m>
                <a:r>
                  <a:rPr lang="en-US" dirty="0"/>
                  <a:t> = ​</a:t>
                </a:r>
                <a14:m>
                  <m:oMath xmlns:m="http://schemas.openxmlformats.org/officeDocument/2006/math">
                    <m:m>
                      <m:mPr>
                        <m:plcHide m:val="on"/>
                        <m:mcs>
                          <m:mc>
                            <m:mcPr>
                              <m:count m:val="3"/>
                              <m:mcJc m:val="center"/>
                            </m:mcPr>
                          </m:mc>
                        </m:mcs>
                        <m:ctrlPr>
                          <a:rPr lang="en-US"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4</m:t>
                          </m:r>
                        </m:e>
                        <m:e>
                          <m:r>
                            <a:rPr lang="en-US" b="0" i="1" smtClean="0">
                              <a:latin typeface="Cambria Math" panose="02040503050406030204" pitchFamily="18" charset="0"/>
                            </a:rPr>
                            <m:t>1</m:t>
                          </m:r>
                          <m:r>
                            <a:rPr lang="en-US" i="1" smtClean="0">
                              <a:latin typeface="Cambria Math" panose="02040503050406030204" pitchFamily="18" charset="0"/>
                            </a:rPr>
                            <m:t>0</m:t>
                          </m:r>
                        </m:e>
                      </m:mr>
                      <m:mr>
                        <m:e>
                          <m:r>
                            <m:rPr>
                              <m:nor/>
                            </m:rPr>
                            <a:rPr lang="en-US" i="0" dirty="0">
                              <a:solidFill>
                                <a:prstClr val="black"/>
                              </a:solidFill>
                            </a:rPr>
                            <m:t>∞</m:t>
                          </m:r>
                        </m:e>
                        <m:e>
                          <m:r>
                            <a:rPr lang="en-US" b="0" i="1" smtClean="0">
                              <a:latin typeface="Cambria Math" panose="02040503050406030204" pitchFamily="18" charset="0"/>
                            </a:rPr>
                            <m:t>0</m:t>
                          </m:r>
                        </m:e>
                        <m:e>
                          <m:r>
                            <a:rPr lang="en-US" b="0" i="1" smtClean="0">
                              <a:latin typeface="Cambria Math" panose="02040503050406030204" pitchFamily="18" charset="0"/>
                            </a:rPr>
                            <m:t>3</m:t>
                          </m:r>
                        </m:e>
                      </m:mr>
                      <m:mr>
                        <m:e>
                          <m:r>
                            <a:rPr lang="en-US" b="0" i="1" smtClean="0">
                              <a:latin typeface="Cambria Math" panose="02040503050406030204" pitchFamily="18" charset="0"/>
                            </a:rPr>
                            <m:t>2</m:t>
                          </m:r>
                        </m:e>
                        <m:e>
                          <m:r>
                            <a:rPr lang="en-US" b="0" i="1" smtClean="0">
                              <a:latin typeface="Cambria Math" panose="02040503050406030204" pitchFamily="18" charset="0"/>
                            </a:rPr>
                            <m:t>1</m:t>
                          </m:r>
                        </m:e>
                        <m:e>
                          <m:r>
                            <a:rPr lang="en-US" b="0" i="1" smtClean="0">
                              <a:latin typeface="Cambria Math" panose="02040503050406030204" pitchFamily="18" charset="0"/>
                            </a:rPr>
                            <m:t>0</m:t>
                          </m:r>
                        </m:e>
                      </m:mr>
                    </m:m>
                  </m:oMath>
                </a14:m>
                <a:r>
                  <a:rPr lang="en-US" dirty="0"/>
                  <a:t>​  </a:t>
                </a:r>
                <a:r>
                  <a:rPr lang="en-US" b="1" dirty="0"/>
                  <a:t>​</a:t>
                </a:r>
              </a:p>
              <a:p>
                <a:pPr marL="514350" indent="-514350" algn="just">
                  <a:buFont typeface="+mj-lt"/>
                  <a:buAutoNum type="arabicPeriod" startAt="4"/>
                </a:pPr>
                <a:r>
                  <a:rPr lang="en-US" dirty="0"/>
                  <a:t>Use the Floyd-</a:t>
                </a:r>
                <a:r>
                  <a:rPr lang="en-US" dirty="0" err="1"/>
                  <a:t>Warshall</a:t>
                </a:r>
                <a:r>
                  <a:rPr lang="en-US" dirty="0"/>
                  <a:t> algorithm to find the all-pairs shortest paths for the following graph.</a:t>
                </a:r>
              </a:p>
              <a:p>
                <a:pPr marL="0" indent="0" algn="just">
                  <a:buNone/>
                </a:pPr>
                <a:r>
                  <a:rPr lang="en-US" dirty="0"/>
                  <a:t>	</a:t>
                </a:r>
                <a:r>
                  <a:rPr lang="en-US"/>
                  <a:t>A </a:t>
                </a:r>
                <a:r>
                  <a:rPr lang="en-US" dirty="0"/>
                  <a:t>to B with a weight of 2, A to C with a weight of 4, B to C with a weight 	of -2, B to D with a weight of 5, C to A with a weight of 3, C to D with a 	weight of 1.</a:t>
                </a:r>
              </a:p>
              <a:p>
                <a:pPr marL="0" indent="0" algn="just">
                  <a:buNone/>
                </a:pPr>
                <a:endParaRPr lang="en-US"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3B148854-1918-68C1-0B9D-2D37A412E86F}"/>
                  </a:ext>
                </a:extLst>
              </p:cNvPr>
              <p:cNvSpPr>
                <a:spLocks noGrp="1" noRot="1" noChangeAspect="1" noMove="1" noResize="1" noEditPoints="1" noAdjustHandles="1" noChangeArrowheads="1" noChangeShapeType="1" noTextEdit="1"/>
              </p:cNvSpPr>
              <p:nvPr>
                <p:ph idx="1"/>
              </p:nvPr>
            </p:nvSpPr>
            <p:spPr>
              <a:xfrm>
                <a:off x="729465" y="1078787"/>
                <a:ext cx="10828961" cy="5098176"/>
              </a:xfrm>
              <a:blipFill>
                <a:blip r:embed="rId2"/>
                <a:stretch>
                  <a:fillRect l="-1070" t="-2990" r="-1014"/>
                </a:stretch>
              </a:blipFill>
            </p:spPr>
            <p:txBody>
              <a:bodyPr/>
              <a:lstStyle/>
              <a:p>
                <a:r>
                  <a:rPr lang="en-US">
                    <a:noFill/>
                  </a:rPr>
                  <a:t> </a:t>
                </a:r>
              </a:p>
            </p:txBody>
          </p:sp>
        </mc:Fallback>
      </mc:AlternateContent>
      <p:sp>
        <p:nvSpPr>
          <p:cNvPr id="7" name="Date Placeholder 6">
            <a:extLst>
              <a:ext uri="{FF2B5EF4-FFF2-40B4-BE49-F238E27FC236}">
                <a16:creationId xmlns:a16="http://schemas.microsoft.com/office/drawing/2014/main" id="{4F7A0E81-212E-87E1-43DC-5A2E2DEEDF5C}"/>
              </a:ext>
            </a:extLst>
          </p:cNvPr>
          <p:cNvSpPr>
            <a:spLocks noGrp="1"/>
          </p:cNvSpPr>
          <p:nvPr>
            <p:ph type="dt" sz="half" idx="10"/>
          </p:nvPr>
        </p:nvSpPr>
        <p:spPr/>
        <p:txBody>
          <a:bodyPr/>
          <a:lstStyle/>
          <a:p>
            <a:fld id="{2D544B9C-7B0D-40F5-844B-E8254E54A974}" type="datetime1">
              <a:rPr lang="en-US" smtClean="0"/>
              <a:t>9/22/2026</a:t>
            </a:fld>
            <a:endParaRPr lang="en-US" dirty="0"/>
          </a:p>
        </p:txBody>
      </p:sp>
      <p:sp>
        <p:nvSpPr>
          <p:cNvPr id="8" name="Footer Placeholder 7">
            <a:extLst>
              <a:ext uri="{FF2B5EF4-FFF2-40B4-BE49-F238E27FC236}">
                <a16:creationId xmlns:a16="http://schemas.microsoft.com/office/drawing/2014/main" id="{2A1EA4B8-6250-3218-36DC-1643D4F8D494}"/>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1E249240-F9C8-7F2B-F438-916F32C7F807}"/>
              </a:ext>
            </a:extLst>
          </p:cNvPr>
          <p:cNvSpPr>
            <a:spLocks noGrp="1"/>
          </p:cNvSpPr>
          <p:nvPr>
            <p:ph type="sldNum" sz="quarter" idx="12"/>
          </p:nvPr>
        </p:nvSpPr>
        <p:spPr/>
        <p:txBody>
          <a:bodyPr/>
          <a:lstStyle/>
          <a:p>
            <a:fld id="{099CF9D6-C8DD-42B2-8F38-039A05793DC1}" type="slidenum">
              <a:rPr lang="en-US" smtClean="0"/>
              <a:t>14</a:t>
            </a:fld>
            <a:endParaRPr lang="en-US"/>
          </a:p>
        </p:txBody>
      </p:sp>
      <p:sp>
        <p:nvSpPr>
          <p:cNvPr id="4" name="Rectangle 1">
            <a:extLst>
              <a:ext uri="{FF2B5EF4-FFF2-40B4-BE49-F238E27FC236}">
                <a16:creationId xmlns:a16="http://schemas.microsoft.com/office/drawing/2014/main" id="{C21FBA13-EC66-0328-0571-36A3E916DA4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8948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DF7A-D03B-EF09-8BD0-32E117107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8E376-6EEB-DC90-5A45-8A2FB2F7D9D8}"/>
              </a:ext>
            </a:extLst>
          </p:cNvPr>
          <p:cNvSpPr>
            <a:spLocks noGrp="1"/>
          </p:cNvSpPr>
          <p:nvPr>
            <p:ph type="title"/>
          </p:nvPr>
        </p:nvSpPr>
        <p:spPr>
          <a:xfrm>
            <a:off x="838200" y="365126"/>
            <a:ext cx="10515600" cy="621194"/>
          </a:xfrm>
        </p:spPr>
        <p:txBody>
          <a:bodyPr>
            <a:normAutofit fontScale="90000"/>
          </a:bodyPr>
          <a:lstStyle/>
          <a:p>
            <a:pPr algn="ctr"/>
            <a:r>
              <a:rPr lang="en-US" dirty="0"/>
              <a:t>Suggestive Questions</a:t>
            </a:r>
          </a:p>
        </p:txBody>
      </p:sp>
      <p:sp>
        <p:nvSpPr>
          <p:cNvPr id="3" name="Content Placeholder 2">
            <a:extLst>
              <a:ext uri="{FF2B5EF4-FFF2-40B4-BE49-F238E27FC236}">
                <a16:creationId xmlns:a16="http://schemas.microsoft.com/office/drawing/2014/main" id="{E60926CE-5498-A7E8-58D2-F547F5E4A30A}"/>
              </a:ext>
            </a:extLst>
          </p:cNvPr>
          <p:cNvSpPr>
            <a:spLocks noGrp="1"/>
          </p:cNvSpPr>
          <p:nvPr>
            <p:ph idx="1"/>
          </p:nvPr>
        </p:nvSpPr>
        <p:spPr>
          <a:xfrm>
            <a:off x="729465" y="1078787"/>
            <a:ext cx="10828961" cy="5098176"/>
          </a:xfrm>
        </p:spPr>
        <p:txBody>
          <a:bodyPr>
            <a:normAutofit/>
          </a:bodyPr>
          <a:lstStyle/>
          <a:p>
            <a:pPr marL="0" indent="0" algn="just">
              <a:buNone/>
            </a:pPr>
            <a:r>
              <a:rPr lang="en-US" b="1" dirty="0"/>
              <a:t>Longest Common Subsequence (LCS)</a:t>
            </a:r>
          </a:p>
          <a:p>
            <a:pPr marL="514350" indent="-514350" algn="just">
              <a:buFont typeface="+mj-lt"/>
              <a:buAutoNum type="arabicPeriod"/>
            </a:pPr>
            <a:r>
              <a:rPr lang="en-US" dirty="0"/>
              <a:t>What is the time complexity of the DP solution for LCS?</a:t>
            </a:r>
          </a:p>
          <a:p>
            <a:pPr marL="514350" indent="-514350" algn="just">
              <a:buFont typeface="+mj-lt"/>
              <a:buAutoNum type="arabicPeriod"/>
            </a:pPr>
            <a:r>
              <a:rPr lang="en-US" dirty="0"/>
              <a:t>In the LCS recurrence relation, what is the meaning of LCS[</a:t>
            </a:r>
            <a:r>
              <a:rPr lang="en-US" dirty="0" err="1"/>
              <a:t>i,j</a:t>
            </a:r>
            <a:r>
              <a:rPr lang="en-US" dirty="0"/>
              <a:t>]=1+LCS[i−1,j−1]?</a:t>
            </a:r>
          </a:p>
          <a:p>
            <a:pPr marL="514350" indent="-514350" algn="just">
              <a:buFont typeface="+mj-lt"/>
              <a:buAutoNum type="arabicPeriod"/>
            </a:pPr>
            <a:r>
              <a:rPr lang="en-US" dirty="0"/>
              <a:t>Given sequences X="ABCD" and Y="AXBZC", fill in the DP table to find the length of the LCS.</a:t>
            </a:r>
          </a:p>
          <a:p>
            <a:pPr marL="514350" indent="-514350" algn="just">
              <a:buFont typeface="+mj-lt"/>
              <a:buAutoNum type="arabicPeriod"/>
            </a:pPr>
            <a:r>
              <a:rPr lang="en-US" dirty="0"/>
              <a:t>Given sequences X="GAC" and Y="AGCAT", use the DP algorithm to find the length of the LCS and then reconstruct one of the actual common subsequences.</a:t>
            </a:r>
          </a:p>
          <a:p>
            <a:pPr marL="514350" indent="-514350" algn="just">
              <a:buFont typeface="+mj-lt"/>
              <a:buAutoNum type="arabicPeriod"/>
            </a:pPr>
            <a:endParaRPr lang="en-US" dirty="0"/>
          </a:p>
        </p:txBody>
      </p:sp>
      <p:sp>
        <p:nvSpPr>
          <p:cNvPr id="7" name="Date Placeholder 6">
            <a:extLst>
              <a:ext uri="{FF2B5EF4-FFF2-40B4-BE49-F238E27FC236}">
                <a16:creationId xmlns:a16="http://schemas.microsoft.com/office/drawing/2014/main" id="{AEB7811A-29F2-B56E-5EFA-35EB61F46A22}"/>
              </a:ext>
            </a:extLst>
          </p:cNvPr>
          <p:cNvSpPr>
            <a:spLocks noGrp="1"/>
          </p:cNvSpPr>
          <p:nvPr>
            <p:ph type="dt" sz="half" idx="10"/>
          </p:nvPr>
        </p:nvSpPr>
        <p:spPr/>
        <p:txBody>
          <a:bodyPr/>
          <a:lstStyle/>
          <a:p>
            <a:fld id="{2D544B9C-7B0D-40F5-844B-E8254E54A974}" type="datetime1">
              <a:rPr lang="en-US" smtClean="0"/>
              <a:t>9/22/2026</a:t>
            </a:fld>
            <a:endParaRPr lang="en-US"/>
          </a:p>
        </p:txBody>
      </p:sp>
      <p:sp>
        <p:nvSpPr>
          <p:cNvPr id="8" name="Footer Placeholder 7">
            <a:extLst>
              <a:ext uri="{FF2B5EF4-FFF2-40B4-BE49-F238E27FC236}">
                <a16:creationId xmlns:a16="http://schemas.microsoft.com/office/drawing/2014/main" id="{CA7C7EF6-BB4B-9326-9C16-F1250E859FDE}"/>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46970F77-B78E-99DF-4E9F-AEACAAE9DC76}"/>
              </a:ext>
            </a:extLst>
          </p:cNvPr>
          <p:cNvSpPr>
            <a:spLocks noGrp="1"/>
          </p:cNvSpPr>
          <p:nvPr>
            <p:ph type="sldNum" sz="quarter" idx="12"/>
          </p:nvPr>
        </p:nvSpPr>
        <p:spPr/>
        <p:txBody>
          <a:bodyPr/>
          <a:lstStyle/>
          <a:p>
            <a:fld id="{099CF9D6-C8DD-42B2-8F38-039A05793DC1}" type="slidenum">
              <a:rPr lang="en-US" smtClean="0"/>
              <a:t>15</a:t>
            </a:fld>
            <a:endParaRPr lang="en-US"/>
          </a:p>
        </p:txBody>
      </p:sp>
    </p:spTree>
    <p:extLst>
      <p:ext uri="{BB962C8B-B14F-4D97-AF65-F5344CB8AC3E}">
        <p14:creationId xmlns:p14="http://schemas.microsoft.com/office/powerpoint/2010/main" val="2103962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65BF-F29B-F8BC-71F3-F464D5195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3844F-E93A-99EB-B5B8-699E63585E22}"/>
              </a:ext>
            </a:extLst>
          </p:cNvPr>
          <p:cNvSpPr>
            <a:spLocks noGrp="1"/>
          </p:cNvSpPr>
          <p:nvPr>
            <p:ph type="title"/>
          </p:nvPr>
        </p:nvSpPr>
        <p:spPr>
          <a:xfrm>
            <a:off x="838200" y="365126"/>
            <a:ext cx="10515600" cy="621194"/>
          </a:xfrm>
        </p:spPr>
        <p:txBody>
          <a:bodyPr>
            <a:normAutofit fontScale="90000"/>
          </a:bodyPr>
          <a:lstStyle/>
          <a:p>
            <a:pPr algn="ctr"/>
            <a:r>
              <a:rPr lang="en-US" dirty="0"/>
              <a:t>Suggestive Questions</a:t>
            </a:r>
          </a:p>
        </p:txBody>
      </p:sp>
      <p:sp>
        <p:nvSpPr>
          <p:cNvPr id="3" name="Content Placeholder 2">
            <a:extLst>
              <a:ext uri="{FF2B5EF4-FFF2-40B4-BE49-F238E27FC236}">
                <a16:creationId xmlns:a16="http://schemas.microsoft.com/office/drawing/2014/main" id="{12BBE153-B642-AD2A-48EC-DC2075B7D603}"/>
              </a:ext>
            </a:extLst>
          </p:cNvPr>
          <p:cNvSpPr>
            <a:spLocks noGrp="1"/>
          </p:cNvSpPr>
          <p:nvPr>
            <p:ph idx="1"/>
          </p:nvPr>
        </p:nvSpPr>
        <p:spPr>
          <a:xfrm>
            <a:off x="729465" y="1078787"/>
            <a:ext cx="10828961" cy="5098176"/>
          </a:xfrm>
        </p:spPr>
        <p:txBody>
          <a:bodyPr>
            <a:normAutofit fontScale="92500" lnSpcReduction="10000"/>
          </a:bodyPr>
          <a:lstStyle/>
          <a:p>
            <a:pPr marL="0" indent="0" algn="just">
              <a:buNone/>
            </a:pPr>
            <a:r>
              <a:rPr lang="en-US" b="1" dirty="0"/>
              <a:t>0/1 Knapsack Problem</a:t>
            </a:r>
          </a:p>
          <a:p>
            <a:pPr marL="514350" indent="-514350" algn="just">
              <a:buFont typeface="+mj-lt"/>
              <a:buAutoNum type="arabicPeriod"/>
            </a:pPr>
            <a:r>
              <a:rPr lang="en-US" dirty="0"/>
              <a:t>Why is the 0/1 Knapsack problem not suitable for a greedy approach?</a:t>
            </a:r>
          </a:p>
          <a:p>
            <a:pPr marL="514350" indent="-514350" algn="just">
              <a:buFont typeface="+mj-lt"/>
              <a:buAutoNum type="arabicPeriod"/>
            </a:pPr>
            <a:r>
              <a:rPr lang="en-US" dirty="0"/>
              <a:t>What does the entry K[</a:t>
            </a:r>
            <a:r>
              <a:rPr lang="en-US" dirty="0" err="1"/>
              <a:t>i,w</a:t>
            </a:r>
            <a:r>
              <a:rPr lang="en-US" dirty="0"/>
              <a:t>] in the DP table for the 0/1 Knapsack problem represent?</a:t>
            </a:r>
          </a:p>
          <a:p>
            <a:pPr marL="514350" indent="-514350" algn="just">
              <a:buFont typeface="+mj-lt"/>
              <a:buAutoNum type="arabicPeriod"/>
            </a:pPr>
            <a:r>
              <a:rPr lang="en-US" dirty="0"/>
              <a:t>Given items with values and weights: Item 1 (v=10,w=5), Item 2 (v=20,w=10), Item 3 (v=15,w=8), and a knapsack capacity of 15, what is the maximum value?</a:t>
            </a:r>
          </a:p>
          <a:p>
            <a:pPr marL="514350" indent="-514350" algn="just">
              <a:buFont typeface="+mj-lt"/>
              <a:buAutoNum type="arabicPeriod"/>
            </a:pPr>
            <a:r>
              <a:rPr lang="en-US" dirty="0"/>
              <a:t>Given items with weights and values as follows:</a:t>
            </a:r>
          </a:p>
          <a:p>
            <a:pPr lvl="1" algn="just"/>
            <a:r>
              <a:rPr lang="en-US" dirty="0"/>
              <a:t>Item 1: </a:t>
            </a:r>
            <a:r>
              <a:rPr lang="en-US" dirty="0">
                <a:effectLst/>
              </a:rPr>
              <a:t>w</a:t>
            </a:r>
            <a:r>
              <a:rPr lang="en-US" dirty="0"/>
              <a:t>=10,</a:t>
            </a:r>
            <a:r>
              <a:rPr lang="en-US" dirty="0">
                <a:effectLst/>
              </a:rPr>
              <a:t>v</a:t>
            </a:r>
            <a:r>
              <a:rPr lang="en-US" dirty="0"/>
              <a:t>=60</a:t>
            </a:r>
          </a:p>
          <a:p>
            <a:pPr lvl="1" algn="just"/>
            <a:r>
              <a:rPr lang="en-US" dirty="0"/>
              <a:t>Item 2: </a:t>
            </a:r>
            <a:r>
              <a:rPr lang="en-US" dirty="0">
                <a:effectLst/>
              </a:rPr>
              <a:t>w</a:t>
            </a:r>
            <a:r>
              <a:rPr lang="en-US" dirty="0"/>
              <a:t>=20,</a:t>
            </a:r>
            <a:r>
              <a:rPr lang="en-US" dirty="0">
                <a:effectLst/>
              </a:rPr>
              <a:t>v</a:t>
            </a:r>
            <a:r>
              <a:rPr lang="en-US" dirty="0"/>
              <a:t>=100</a:t>
            </a:r>
          </a:p>
          <a:p>
            <a:pPr lvl="1" algn="just"/>
            <a:r>
              <a:rPr lang="en-US" dirty="0"/>
              <a:t>Item 3: </a:t>
            </a:r>
            <a:r>
              <a:rPr lang="en-US" dirty="0">
                <a:effectLst/>
              </a:rPr>
              <a:t>w</a:t>
            </a:r>
            <a:r>
              <a:rPr lang="en-US" dirty="0"/>
              <a:t>=30,</a:t>
            </a:r>
            <a:r>
              <a:rPr lang="en-US" dirty="0">
                <a:effectLst/>
              </a:rPr>
              <a:t>v</a:t>
            </a:r>
            <a:r>
              <a:rPr lang="en-US" dirty="0"/>
              <a:t>=120 Use the dynamic programming approach to fill out the DP table for a knapsack with a capacity of 50. What is the maximum value, and which items are included?</a:t>
            </a:r>
          </a:p>
          <a:p>
            <a:pPr marL="514350" indent="-514350" algn="just">
              <a:buFont typeface="+mj-lt"/>
              <a:buAutoNum type="arabicPeriod"/>
            </a:pPr>
            <a:endParaRPr lang="en-US" dirty="0"/>
          </a:p>
        </p:txBody>
      </p:sp>
      <p:sp>
        <p:nvSpPr>
          <p:cNvPr id="7" name="Date Placeholder 6">
            <a:extLst>
              <a:ext uri="{FF2B5EF4-FFF2-40B4-BE49-F238E27FC236}">
                <a16:creationId xmlns:a16="http://schemas.microsoft.com/office/drawing/2014/main" id="{6ACEDF3F-94ED-034C-D3E7-B2C8838006B4}"/>
              </a:ext>
            </a:extLst>
          </p:cNvPr>
          <p:cNvSpPr>
            <a:spLocks noGrp="1"/>
          </p:cNvSpPr>
          <p:nvPr>
            <p:ph type="dt" sz="half" idx="10"/>
          </p:nvPr>
        </p:nvSpPr>
        <p:spPr/>
        <p:txBody>
          <a:bodyPr/>
          <a:lstStyle/>
          <a:p>
            <a:fld id="{2D544B9C-7B0D-40F5-844B-E8254E54A974}" type="datetime1">
              <a:rPr lang="en-US" smtClean="0"/>
              <a:t>9/22/2026</a:t>
            </a:fld>
            <a:endParaRPr lang="en-US"/>
          </a:p>
        </p:txBody>
      </p:sp>
      <p:sp>
        <p:nvSpPr>
          <p:cNvPr id="8" name="Footer Placeholder 7">
            <a:extLst>
              <a:ext uri="{FF2B5EF4-FFF2-40B4-BE49-F238E27FC236}">
                <a16:creationId xmlns:a16="http://schemas.microsoft.com/office/drawing/2014/main" id="{14A9E6C0-0045-642B-BE38-CA8162F1C4F5}"/>
              </a:ext>
            </a:extLst>
          </p:cNvPr>
          <p:cNvSpPr>
            <a:spLocks noGrp="1"/>
          </p:cNvSpPr>
          <p:nvPr>
            <p:ph type="ftr" sz="quarter" idx="11"/>
          </p:nvPr>
        </p:nvSpPr>
        <p:spPr/>
        <p:txBody>
          <a:bodyPr/>
          <a:lstStyle/>
          <a:p>
            <a:r>
              <a:rPr lang="en-US"/>
              <a:t>AIML, 5TH SEM</a:t>
            </a:r>
          </a:p>
        </p:txBody>
      </p:sp>
      <p:sp>
        <p:nvSpPr>
          <p:cNvPr id="9" name="Slide Number Placeholder 8">
            <a:extLst>
              <a:ext uri="{FF2B5EF4-FFF2-40B4-BE49-F238E27FC236}">
                <a16:creationId xmlns:a16="http://schemas.microsoft.com/office/drawing/2014/main" id="{BC51A917-289D-F250-64A3-47F669F6AC89}"/>
              </a:ext>
            </a:extLst>
          </p:cNvPr>
          <p:cNvSpPr>
            <a:spLocks noGrp="1"/>
          </p:cNvSpPr>
          <p:nvPr>
            <p:ph type="sldNum" sz="quarter" idx="12"/>
          </p:nvPr>
        </p:nvSpPr>
        <p:spPr/>
        <p:txBody>
          <a:bodyPr/>
          <a:lstStyle/>
          <a:p>
            <a:fld id="{099CF9D6-C8DD-42B2-8F38-039A05793DC1}" type="slidenum">
              <a:rPr lang="en-US" smtClean="0"/>
              <a:t>16</a:t>
            </a:fld>
            <a:endParaRPr lang="en-US"/>
          </a:p>
        </p:txBody>
      </p:sp>
    </p:spTree>
    <p:extLst>
      <p:ext uri="{BB962C8B-B14F-4D97-AF65-F5344CB8AC3E}">
        <p14:creationId xmlns:p14="http://schemas.microsoft.com/office/powerpoint/2010/main" val="4275626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TotalTime>
  <Words>2331</Words>
  <Application>Microsoft Office PowerPoint</Application>
  <PresentationFormat>Widescreen</PresentationFormat>
  <Paragraphs>182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Times New Roman</vt:lpstr>
      <vt:lpstr>Office Theme</vt:lpstr>
      <vt:lpstr>Design and Analysis of Algorithms CSEL30503MJ</vt:lpstr>
      <vt:lpstr>Content</vt:lpstr>
      <vt:lpstr>Introduction: Dynamic Programming </vt:lpstr>
      <vt:lpstr>Matrix Chain Multiplication</vt:lpstr>
      <vt:lpstr>Matrix Chain Multiplication</vt:lpstr>
      <vt:lpstr>Example: Matrix Chain Multiplication</vt:lpstr>
      <vt:lpstr>All-Pairs Shortest Paths (Floyd-Warshall Algorithm)</vt:lpstr>
      <vt:lpstr>Example: All-Pairs Shortest Paths (Floyd-Warshall Algorithm)</vt:lpstr>
      <vt:lpstr>Longest Common Subsequence (LCS)</vt:lpstr>
      <vt:lpstr>Example: Longest Common Subsequence (LCS)</vt:lpstr>
      <vt:lpstr>0/1 Knapsack Problem</vt:lpstr>
      <vt:lpstr>Example: 0/1 Knapsack Problem</vt:lpstr>
      <vt:lpstr>Suggestive Questions</vt:lpstr>
      <vt:lpstr>Suggestive Questions</vt:lpstr>
      <vt:lpstr>Suggestive Questions</vt:lpstr>
      <vt:lpstr>Suggestive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BHASKAR ROY-101071</cp:lastModifiedBy>
  <cp:revision>54</cp:revision>
  <dcterms:created xsi:type="dcterms:W3CDTF">2025-07-13T17:59:15Z</dcterms:created>
  <dcterms:modified xsi:type="dcterms:W3CDTF">2026-09-22T07:15:46Z</dcterms:modified>
</cp:coreProperties>
</file>